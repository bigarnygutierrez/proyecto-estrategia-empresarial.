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SemiBold"/>
      <p:regular r:id="rId201315"/>
    </p:embeddedFont>
    <p:embeddedFont>
      <p:font typeface="Arimo Bold"/>
      <p:regular r:id="rId201316"/>
    </p:embeddedFont>
    <p:embeddedFont>
      <p:font typeface="Syne"/>
      <p:regular r:id="rId201317"/>
    </p:embeddedFont>
    <p:embeddedFont>
      <p:font typeface="Syne SemiBold"/>
      <p:regular r:id="rId201318"/>
    </p:embeddedFont>
    <p:embeddedFont>
      <p:font typeface="Syn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24353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Análisis PESTEL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129359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Una herramienta estratégica para entender el entorno macro de cualquier organización. Aprenderemos sus fundamentos, exploraremos un caso guiado y lo aplicaremos en equipo.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4311253"/>
            <a:ext cx="1699178" cy="303113"/>
          </a:xfrm>
          <a:prstGeom prst="roundRect">
            <a:avLst>
              <a:gd name="adj" fmla="val 7897"/>
            </a:avLst>
          </a:prstGeom>
          <a:solidFill>
            <a:srgbClr val="0F004D"/>
          </a:solidFill>
          <a:ln/>
        </p:spPr>
      </p:sp>
      <p:sp>
        <p:nvSpPr>
          <p:cNvPr id="6" name="Text 3"/>
          <p:cNvSpPr/>
          <p:nvPr/>
        </p:nvSpPr>
        <p:spPr>
          <a:xfrm>
            <a:off x="817740" y="4371082"/>
            <a:ext cx="206945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TALLER PRÁCTICO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496976" y="4311253"/>
            <a:ext cx="2133547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8061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16631" y="4371082"/>
            <a:ext cx="2503822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ANÁLISIS ESTRATÉGICO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4198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¿Qué es el análisis PESTEL?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06687"/>
            <a:ext cx="6857332" cy="3857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7964" y="1694855"/>
            <a:ext cx="3481896" cy="276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PESTEL es un marco de análisis del 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macroentorno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que permite identificar los factores externos que pueden impactar a una organización, sector o proyecto.</a:t>
            </a:r>
            <a:endParaRPr lang="en-US" sz="14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diferencia del análisis interno, PESTEL se enfoca en variables que la empresa </a:t>
            </a:r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no controla directamente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pero que determinan las oportunidades y amenazas del entorno.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17964" y="4658122"/>
            <a:ext cx="3481896" cy="1278434"/>
          </a:xfrm>
          <a:prstGeom prst="roundRect">
            <a:avLst>
              <a:gd name="adj" fmla="val 2194"/>
            </a:avLst>
          </a:prstGeom>
          <a:solidFill>
            <a:srgbClr val="19008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888" y="4926112"/>
            <a:ext cx="233754" cy="186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25565" y="4862612"/>
            <a:ext cx="2687372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 la base para elaborar una matriz FODA sólida y fundamentada.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1061"/>
            <a:ext cx="10795524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Los 6 factores del PESTEL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98086" y="1330127"/>
            <a:ext cx="5326723" cy="1564283"/>
          </a:xfrm>
          <a:prstGeom prst="roundRect">
            <a:avLst>
              <a:gd name="adj" fmla="val 1614"/>
            </a:avLst>
          </a:prstGeom>
          <a:solidFill>
            <a:srgbClr val="2B2952"/>
          </a:solidFill>
          <a:ln/>
        </p:spPr>
      </p:sp>
      <p:sp>
        <p:nvSpPr>
          <p:cNvPr id="4" name="Shape 2"/>
          <p:cNvSpPr/>
          <p:nvPr/>
        </p:nvSpPr>
        <p:spPr>
          <a:xfrm>
            <a:off x="866356" y="1498402"/>
            <a:ext cx="504912" cy="504924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160" y="1637209"/>
            <a:ext cx="227205" cy="2272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6356" y="2145308"/>
            <a:ext cx="49901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Político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6356" y="2477988"/>
            <a:ext cx="49901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Estabilidad gubernamental, regulaciones y políticas públicas.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66787" y="1330127"/>
            <a:ext cx="5326822" cy="1564283"/>
          </a:xfrm>
          <a:prstGeom prst="roundRect">
            <a:avLst>
              <a:gd name="adj" fmla="val 1614"/>
            </a:avLst>
          </a:prstGeom>
          <a:solidFill>
            <a:srgbClr val="2B2952"/>
          </a:solidFill>
          <a:ln/>
        </p:spPr>
      </p:sp>
      <p:sp>
        <p:nvSpPr>
          <p:cNvPr id="9" name="Shape 6"/>
          <p:cNvSpPr/>
          <p:nvPr/>
        </p:nvSpPr>
        <p:spPr>
          <a:xfrm>
            <a:off x="6335058" y="1498402"/>
            <a:ext cx="504912" cy="504924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3861" y="1637209"/>
            <a:ext cx="227205" cy="2272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5058" y="2145308"/>
            <a:ext cx="49902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Económico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335058" y="2477988"/>
            <a:ext cx="49902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PIB, inflación, tasas de interés y poder adquisitivo.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98086" y="3036391"/>
            <a:ext cx="5326723" cy="1564283"/>
          </a:xfrm>
          <a:prstGeom prst="roundRect">
            <a:avLst>
              <a:gd name="adj" fmla="val 1614"/>
            </a:avLst>
          </a:prstGeom>
          <a:solidFill>
            <a:srgbClr val="2B29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66356" y="3204666"/>
            <a:ext cx="504912" cy="504924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160" y="3343473"/>
            <a:ext cx="227205" cy="2272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6356" y="3851573"/>
            <a:ext cx="49901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Social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66356" y="4184253"/>
            <a:ext cx="49901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Demografía, cultura, estilos de vida y tendencias sociales.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66787" y="3036391"/>
            <a:ext cx="5326822" cy="1564283"/>
          </a:xfrm>
          <a:prstGeom prst="roundRect">
            <a:avLst>
              <a:gd name="adj" fmla="val 1614"/>
            </a:avLst>
          </a:prstGeom>
          <a:solidFill>
            <a:srgbClr val="2B2952"/>
          </a:solidFill>
          <a:ln/>
        </p:spPr>
      </p:sp>
      <p:sp>
        <p:nvSpPr>
          <p:cNvPr id="19" name="Shape 14"/>
          <p:cNvSpPr/>
          <p:nvPr/>
        </p:nvSpPr>
        <p:spPr>
          <a:xfrm>
            <a:off x="6335058" y="3204666"/>
            <a:ext cx="504912" cy="504924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3861" y="3343473"/>
            <a:ext cx="227205" cy="22721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35058" y="3851573"/>
            <a:ext cx="49902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Tecnológico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335058" y="4184253"/>
            <a:ext cx="49902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Automatización, I+D, digitalización e innovación.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98086" y="4742656"/>
            <a:ext cx="5326723" cy="1564283"/>
          </a:xfrm>
          <a:prstGeom prst="roundRect">
            <a:avLst>
              <a:gd name="adj" fmla="val 1614"/>
            </a:avLst>
          </a:prstGeom>
          <a:solidFill>
            <a:srgbClr val="2B2952"/>
          </a:solidFill>
          <a:ln/>
        </p:spPr>
      </p:sp>
      <p:sp>
        <p:nvSpPr>
          <p:cNvPr id="24" name="Shape 18"/>
          <p:cNvSpPr/>
          <p:nvPr/>
        </p:nvSpPr>
        <p:spPr>
          <a:xfrm>
            <a:off x="866356" y="4910931"/>
            <a:ext cx="504912" cy="504924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5160" y="5049738"/>
            <a:ext cx="227205" cy="22721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66356" y="5557838"/>
            <a:ext cx="49901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Ecológico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866356" y="5890518"/>
            <a:ext cx="49901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Cambio climático, sostenibilidad y normativas ambientales.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66787" y="4742656"/>
            <a:ext cx="5326822" cy="1564283"/>
          </a:xfrm>
          <a:prstGeom prst="roundRect">
            <a:avLst>
              <a:gd name="adj" fmla="val 1614"/>
            </a:avLst>
          </a:prstGeom>
          <a:solidFill>
            <a:srgbClr val="2B2952"/>
          </a:solidFill>
          <a:ln/>
        </p:spPr>
      </p:sp>
      <p:sp>
        <p:nvSpPr>
          <p:cNvPr id="29" name="Shape 22"/>
          <p:cNvSpPr/>
          <p:nvPr/>
        </p:nvSpPr>
        <p:spPr>
          <a:xfrm>
            <a:off x="6335058" y="4910931"/>
            <a:ext cx="504912" cy="504924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3861" y="5049738"/>
            <a:ext cx="227205" cy="22721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35058" y="5557838"/>
            <a:ext cx="49902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Legal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6335058" y="5890518"/>
            <a:ext cx="49902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Legislación laboral, propiedad intelectual y normativas sectoriales.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93037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Factor Político y Económico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602309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Político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69971" y="3095030"/>
            <a:ext cx="2868541" cy="2762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Políticas comerciales y aranceles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Estabilidad del gobierno y corrupción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Tratados internacionales (TLCs)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Regulación sectorial específica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631418" y="2602309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Económico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31418" y="3095030"/>
            <a:ext cx="2868541" cy="212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Crecimiento del PIB y recesiones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Inflación y tipos de cambio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Tasas de desempleo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Acceso a crédito y financiamiento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6213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Factor Social y Tecnológico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94739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Social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3440112"/>
            <a:ext cx="5154484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Cambios demográficos y envejecimiento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Nivel educativo y cultural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Hábitos de consumo y valores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Movilidad social y urbanización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345476" y="294739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Tecnológico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5476" y="3440112"/>
            <a:ext cx="5154484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Adopción de IA y automatización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Velocidad de innovación en el sector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Inversión en I+D y patentes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Infraestructura digital y conectividad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6213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Factor Ecológico y Legal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94739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Ecológico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3440112"/>
            <a:ext cx="5154484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Regulaciones de emisiones y residuos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Escasez de recursos naturales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Presión de stakeholders por sostenibilidad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Riesgos climáticos en la cadena de suministro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345476" y="294739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Legal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5476" y="3440112"/>
            <a:ext cx="5154484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Normativa laboral y sindical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Protección de datos y privacidad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Regulaciones de salud y seguridad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Propiedad intelectual y licencias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4038"/>
            <a:ext cx="107955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Estudio de caso guiado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98086" y="818852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PESTEL aplicado: Tesla, Inc.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427163"/>
            <a:ext cx="8737381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9104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¿Cómo interpretar los resultados?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105" y="2269530"/>
            <a:ext cx="5128588" cy="30439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38687" y="4614636"/>
            <a:ext cx="1274860" cy="23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Conectar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3532015" y="4614636"/>
            <a:ext cx="1274860" cy="23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Evaluar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899147" y="4614636"/>
            <a:ext cx="1274859" cy="23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Identificar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93259" y="1481435"/>
            <a:ext cx="3506601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Criterios de priorización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93259" y="1899245"/>
            <a:ext cx="3506601" cy="1296491"/>
          </a:xfrm>
          <a:prstGeom prst="roundRect">
            <a:avLst>
              <a:gd name="adj" fmla="val 1983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655" y="2089646"/>
            <a:ext cx="312580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Alto impacto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183655" y="2495352"/>
            <a:ext cx="3125809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Factores que pueden alterar el modelo de negocio de forma inmediata.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93259" y="3342977"/>
            <a:ext cx="3506601" cy="1296491"/>
          </a:xfrm>
          <a:prstGeom prst="roundRect">
            <a:avLst>
              <a:gd name="adj" fmla="val 1983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655" y="3533378"/>
            <a:ext cx="312580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Impacto moderado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183655" y="3939084"/>
            <a:ext cx="3125809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Tendencias a monitorear que podrían escalar.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93259" y="4786709"/>
            <a:ext cx="3506601" cy="1296491"/>
          </a:xfrm>
          <a:prstGeom prst="roundRect">
            <a:avLst>
              <a:gd name="adj" fmla="val 1983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3655" y="4977110"/>
            <a:ext cx="312580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Bajo impacto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183655" y="5382816"/>
            <a:ext cx="3125809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Factores de contexto, relevantes pero no urgentes.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7772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PESTEL y su conexión con FODA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478558"/>
            <a:ext cx="6870727" cy="38648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3259" y="2900958"/>
            <a:ext cx="3506601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PESTEL </a:t>
            </a:r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alimenta directamente</a:t>
            </a:r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la matriz FODA: los factores externos identificados se convierten en las </a:t>
            </a:r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Oportunidades</a:t>
            </a:r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y </a:t>
            </a:r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Amenazas</a:t>
            </a:r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del análisis.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036" y="5655766"/>
            <a:ext cx="5324739" cy="6335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531" y="5674816"/>
            <a:ext cx="509624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Oportunidades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07531" y="6015236"/>
            <a:ext cx="509624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Factores PESTEL favorables que la empresa puede aprovechar.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8871" y="5655766"/>
            <a:ext cx="5324739" cy="6335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97366" y="5674816"/>
            <a:ext cx="509624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Amenazas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397366" y="6015236"/>
            <a:ext cx="509624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Factores PESTEL adversos que representan un riesgo estratégico.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37351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Taller Práctico en Equipos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84601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 momento de aplicar lo aprendido. Cada equipo realizará un análisis PESTEL completo de la empresa seleccionada por su grupo.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7147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Guía del Taller: Paso a Paso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182019"/>
            <a:ext cx="199425" cy="1994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8086" y="2470745"/>
            <a:ext cx="5298049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5" name="Text 2"/>
          <p:cNvSpPr/>
          <p:nvPr/>
        </p:nvSpPr>
        <p:spPr>
          <a:xfrm>
            <a:off x="698086" y="2621260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Seleccionar la empresa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3034209"/>
            <a:ext cx="52980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Confirmen el nombre y sector de la empresa asignada a su grupo.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5560" y="2182019"/>
            <a:ext cx="199425" cy="19943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95560" y="2470745"/>
            <a:ext cx="5298049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9" name="Text 5"/>
          <p:cNvSpPr/>
          <p:nvPr/>
        </p:nvSpPr>
        <p:spPr>
          <a:xfrm>
            <a:off x="6195560" y="2621260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Investigar por dimensión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195560" y="3034209"/>
            <a:ext cx="52980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Dividan los 6 factores entre los integrantes del equipo para investigar en paralelo.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046438"/>
            <a:ext cx="199425" cy="19943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98086" y="4335165"/>
            <a:ext cx="5298049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3" name="Text 8"/>
          <p:cNvSpPr/>
          <p:nvPr/>
        </p:nvSpPr>
        <p:spPr>
          <a:xfrm>
            <a:off x="698086" y="4485680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Registrar hallazgos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98086" y="4898628"/>
            <a:ext cx="52980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Completen la plantilla PESTEL con al menos 3 factores por dimensión, indicando impacto y evidencia.</a:t>
            </a:r>
            <a:endParaRPr lang="en-US" sz="15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5560" y="4046438"/>
            <a:ext cx="199425" cy="19943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95560" y="4335165"/>
            <a:ext cx="5298049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7" name="Text 11"/>
          <p:cNvSpPr/>
          <p:nvPr/>
        </p:nvSpPr>
        <p:spPr>
          <a:xfrm>
            <a:off x="6195560" y="4485680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Presentar conclusiones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195560" y="4898628"/>
            <a:ext cx="52980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Identifiquen los 3 factores más críticos y preparen una presentación de 5 minutos para el grupo.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3418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Puntos Clave del Taller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219821"/>
            <a:ext cx="3465525" cy="2381845"/>
          </a:xfrm>
          <a:prstGeom prst="roundRect">
            <a:avLst>
              <a:gd name="adj" fmla="val 1256"/>
            </a:avLst>
          </a:prstGeom>
          <a:solidFill>
            <a:srgbClr val="2B2952"/>
          </a:solidFill>
          <a:ln/>
        </p:spPr>
      </p:sp>
      <p:sp>
        <p:nvSpPr>
          <p:cNvPr id="4" name="Text 2"/>
          <p:cNvSpPr/>
          <p:nvPr/>
        </p:nvSpPr>
        <p:spPr>
          <a:xfrm>
            <a:off x="897510" y="2419251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Foco en evidencia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510" y="2832199"/>
            <a:ext cx="306667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Cada factor debe respaldarse con datos reales: noticias, informes o estadísticas recientes.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2219821"/>
            <a:ext cx="3465525" cy="2381845"/>
          </a:xfrm>
          <a:prstGeom prst="roundRect">
            <a:avLst>
              <a:gd name="adj" fmla="val 1256"/>
            </a:avLst>
          </a:prstGeom>
          <a:solidFill>
            <a:srgbClr val="2B2952"/>
          </a:solidFill>
          <a:ln/>
        </p:spPr>
      </p:sp>
      <p:sp>
        <p:nvSpPr>
          <p:cNvPr id="7" name="Text 5"/>
          <p:cNvSpPr/>
          <p:nvPr/>
        </p:nvSpPr>
        <p:spPr>
          <a:xfrm>
            <a:off x="4562460" y="2419251"/>
            <a:ext cx="306667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Pensamiento sistémico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62460" y="3125490"/>
            <a:ext cx="3066676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Busquen conexiones entre dimensiones: un cambio legal puede tener impacto económico y social simultáneo.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2219821"/>
            <a:ext cx="3465624" cy="2381845"/>
          </a:xfrm>
          <a:prstGeom prst="roundRect">
            <a:avLst>
              <a:gd name="adj" fmla="val 1256"/>
            </a:avLst>
          </a:prstGeom>
          <a:solidFill>
            <a:srgbClr val="2B2952"/>
          </a:solidFill>
          <a:ln/>
        </p:spPr>
      </p:sp>
      <p:sp>
        <p:nvSpPr>
          <p:cNvPr id="10" name="Text 8"/>
          <p:cNvSpPr/>
          <p:nvPr/>
        </p:nvSpPr>
        <p:spPr>
          <a:xfrm>
            <a:off x="8227410" y="2419251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Priorizar, no listar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7410" y="2832199"/>
            <a:ext cx="306677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se trata de enumerar todo lo posible, sino de identificar lo más relevante para la estrategia.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4826000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19008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10" y="5116612"/>
            <a:ext cx="249330" cy="1994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46266" y="5075238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análisis PESTEL no es un ejercicio estático: debe actualizarse conforme evoluciona el entorno.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2026-09-04T03:36:09Z</dcterms:created>
  <dcterms:modified xsi:type="dcterms:W3CDTF">2026-09-04T03:36:09Z</dcterms:modified>
</cp:coreProperties>
</file>