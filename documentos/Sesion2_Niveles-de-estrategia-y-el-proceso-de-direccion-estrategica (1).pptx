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eist" panose="020B0604020202020204" charset="0"/>
      <p:regular r:id="rId21"/>
    </p:embeddedFont>
    <p:embeddedFont>
      <p:font typeface="Geist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32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935857"/>
            <a:ext cx="6296860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Estrategia Empresarial: Niveles de estrategia y el proceso de dirección estratégica.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78272"/>
            <a:ext cx="6296860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7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¿Por qué la estrategia importa en la ingeniería industrial?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2345234"/>
            <a:ext cx="293233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costo de la desalineación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233360" y="2799259"/>
            <a:ext cx="2932337" cy="178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Toyota perdió </a:t>
            </a: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$1.5 mil millones de dólares en 2010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por falta de alineación entre sus decisiones de producción y su estrategia corporativa. Las decisiones operativas sin dirección estratégica generan ineficiencias sistémicas que escalan hasta volverse crisis.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04233" y="2345234"/>
            <a:ext cx="2932337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ingeniero industrial como puente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04233" y="3087191"/>
            <a:ext cx="2932337" cy="156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ingeniero industrial no es solo un optimizador de procesos — es el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traductor entre la estrategia y la operación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Su rol único es convertir objetivos corporativos en procesos medibles, recursos asignados y resultados cuantificables.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04233" y="4836021"/>
            <a:ext cx="2932337" cy="1056779"/>
          </a:xfrm>
          <a:prstGeom prst="roundRect">
            <a:avLst>
              <a:gd name="adj" fmla="val 7043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433" y="5062736"/>
            <a:ext cx="221451" cy="1772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80084" y="5029696"/>
            <a:ext cx="2179285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sin ejecución es ficción. La ejecución sin estrategia es desperdicio.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510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Los Tres Niveles de Estrategia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27387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372445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37" dirty="0">
                <a:solidFill>
                  <a:srgbClr val="00B05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Corporativa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50482" y="3792934"/>
            <a:ext cx="3244868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¿En qué negocios competimos? Portafolio, diversificación y asignación de capital entre unidades de negocio.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42738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372445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37" dirty="0">
                <a:solidFill>
                  <a:srgbClr val="7030A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 </a:t>
            </a:r>
            <a:r>
              <a:rPr lang="en-US" sz="2400" b="1" kern="0" spc="-37" dirty="0" err="1">
                <a:solidFill>
                  <a:srgbClr val="7030A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Negocio</a:t>
            </a:r>
            <a:endParaRPr lang="en-US" sz="2400" b="1" kern="0" spc="-37" dirty="0">
              <a:solidFill>
                <a:srgbClr val="7030A0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473364" y="3792934"/>
            <a:ext cx="324486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¿Cómo ganamos en cada mercado? Diferenciación, liderazgo en costos o enfoque en nicho.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427387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372445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37" dirty="0" err="1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Funcional</a:t>
            </a:r>
            <a:endParaRPr lang="en-US" sz="2400" b="1" kern="0" spc="-37" dirty="0">
              <a:solidFill>
                <a:srgbClr val="FFC000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096246" y="3792934"/>
            <a:ext cx="3244868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¿Cómo optimizamos cada área? Producción, logística, calidad y mantenimiento alineados a la estrategia.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56682" y="5177234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Cada nivel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alimenta al siguiente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sin coherencia entre ellos, la estrategia fracasa en la operación.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4511"/>
            <a:ext cx="6913390" cy="38888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3400" y="860524"/>
            <a:ext cx="1623079" cy="269180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4" name="Text 1"/>
          <p:cNvSpPr/>
          <p:nvPr/>
        </p:nvSpPr>
        <p:spPr>
          <a:xfrm>
            <a:off x="8119661" y="913606"/>
            <a:ext cx="202014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NIVEL CORPORATIVO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13400" y="1196082"/>
            <a:ext cx="3523070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7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Decidir Dónde Competir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8013400" y="2513905"/>
            <a:ext cx="3523070" cy="1115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corporativa define el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portafolio de unidades de negocio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 la asignación de recursos entre ellas. No se trata de cómo competir, sino de </a:t>
            </a:r>
            <a:r>
              <a:rPr lang="en-US" sz="13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 qué arenas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vale la pena estar.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3400" y="3795713"/>
            <a:ext cx="3523070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 Real: 3M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13400" y="4249738"/>
            <a:ext cx="3523070" cy="178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3M aplica diversificación relacionada con más de </a:t>
            </a: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60,000 productos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todos basados en su dominio central de tecnología de adhesivos y materiales avanzados. El ingeniero industrial evalúa las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sinergias operativas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entre unidades: capacidad compartida, economías de escala y transferencia de conocimiento técnico.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43459"/>
            <a:ext cx="1598176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700113"/>
            <a:ext cx="19809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NIVEL DE NEGOCIO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0620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Cómo Ganar en el Mercado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903934"/>
            <a:ext cx="10868745" cy="2310606"/>
          </a:xfrm>
          <a:prstGeom prst="roundRect">
            <a:avLst>
              <a:gd name="adj" fmla="val 343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0524" y="2922984"/>
            <a:ext cx="3610182" cy="2272506"/>
          </a:xfrm>
          <a:custGeom>
            <a:avLst/>
            <a:gdLst/>
            <a:ahLst/>
            <a:cxnLst/>
            <a:rect l="l" t="t" r="r" b="b"/>
            <a:pathLst>
              <a:path w="3610182" h="2272506">
                <a:moveTo>
                  <a:pt x="66156" y="0"/>
                </a:moveTo>
                <a:lnTo>
                  <a:pt x="3610182" y="0"/>
                </a:lnTo>
                <a:lnTo>
                  <a:pt x="3610182" y="2272506"/>
                </a:lnTo>
                <a:lnTo>
                  <a:pt x="66156" y="2272506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5"/>
          <p:cNvSpPr/>
          <p:nvPr/>
        </p:nvSpPr>
        <p:spPr>
          <a:xfrm>
            <a:off x="869531" y="3111996"/>
            <a:ext cx="32321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FFFF00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🏷️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Liderazgo en Costos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69531" y="3532485"/>
            <a:ext cx="3232168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Walmart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reduce costos logísticos con cross-docking — el </a:t>
            </a:r>
            <a:r>
              <a:rPr lang="en-US" sz="1450" b="1" dirty="0">
                <a:solidFill>
                  <a:srgbClr val="FAC49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85% de su mercancía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fluye sin almacenamiento intermedio. Velocidad y volumen como ventaja estructural.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0707" y="2922984"/>
            <a:ext cx="3610182" cy="2272506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0707" y="2922984"/>
            <a:ext cx="25399" cy="2272506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1" name="Text 9"/>
          <p:cNvSpPr/>
          <p:nvPr/>
        </p:nvSpPr>
        <p:spPr>
          <a:xfrm>
            <a:off x="4479714" y="3111996"/>
            <a:ext cx="32321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0000FF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💎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Diferenciación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79714" y="3532485"/>
            <a:ext cx="323216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justifica precios premium mediante diseño industrial de clase mundial e integración profunda de ecosistema. El cliente paga por experiencia, no solo por componentes.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00889" y="2922984"/>
            <a:ext cx="3610282" cy="2272506"/>
          </a:xfrm>
          <a:custGeom>
            <a:avLst/>
            <a:gdLst/>
            <a:ahLst/>
            <a:cxnLst/>
            <a:rect l="l" t="t" r="r" b="b"/>
            <a:pathLst>
              <a:path w="3610282" h="2272506">
                <a:moveTo>
                  <a:pt x="0" y="0"/>
                </a:moveTo>
                <a:lnTo>
                  <a:pt x="3544125" y="0"/>
                </a:lnTo>
                <a:arcTo wR="66156" hR="66158" stAng="16200000" swAng="5400000"/>
                <a:lnTo>
                  <a:pt x="3610282" y="2206348"/>
                </a:lnTo>
                <a:arcTo wR="66156" hR="66158" stAng="0" swAng="5400000"/>
                <a:lnTo>
                  <a:pt x="0" y="2272506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0889" y="2922984"/>
            <a:ext cx="25399" cy="2272506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5" name="Text 13"/>
          <p:cNvSpPr/>
          <p:nvPr/>
        </p:nvSpPr>
        <p:spPr>
          <a:xfrm>
            <a:off x="8089896" y="3111996"/>
            <a:ext cx="32322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FF0000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Rol del IE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89896" y="3532485"/>
            <a:ext cx="3232268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ingeniero industrial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diseña los procesos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que hacen sostenible la ventaja competitiva elegida — ya sea velocidad, costo o calidad diferenciada.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737295"/>
            <a:ext cx="1428119" cy="264616"/>
          </a:xfrm>
          <a:prstGeom prst="roundRect">
            <a:avLst>
              <a:gd name="adj" fmla="val 22126"/>
            </a:avLst>
          </a:prstGeom>
          <a:solidFill>
            <a:srgbClr val="00194D"/>
          </a:solidFill>
          <a:ln/>
        </p:spPr>
      </p:sp>
      <p:sp>
        <p:nvSpPr>
          <p:cNvPr id="4" name="Text 1"/>
          <p:cNvSpPr/>
          <p:nvPr/>
        </p:nvSpPr>
        <p:spPr>
          <a:xfrm>
            <a:off x="5337835" y="789484"/>
            <a:ext cx="1828754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NIVEL FUNCIONAL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1066105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Donde la Estrategia se Ejecuta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33360" y="2033984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Alineación funcional total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33360" y="2477691"/>
            <a:ext cx="2935909" cy="108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Producción, logística, calidad, mantenimiento y compras deben alinearse con la estrategia de negocio. Ningún área funciona en aislamiento estratégico.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3360" y="3726259"/>
            <a:ext cx="2935909" cy="566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Caso: Toyota Production System (TPS)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33360" y="4453037"/>
            <a:ext cx="2935909" cy="1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TPS es una estrategia funcional de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eliminación sistemática de desperdicios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que sostiene el liderazgo en costos y calidad de forma simultánea — no como objetivos contrapuestos, sino como consecuencias del mismo sistema.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00661" y="2033984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KPIs funcionales derivados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00661" y="2477691"/>
            <a:ext cx="2935909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Los indicadores funcionales deben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derivarse de los objetivos estratégicos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 definirse de forma aislada. Un KPI  sin vinculación estratégica es solo un número en un reporte.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00661" y="3963888"/>
            <a:ext cx="2935909" cy="1028998"/>
          </a:xfrm>
          <a:prstGeom prst="roundRect">
            <a:avLst>
              <a:gd name="adj" fmla="val 7112"/>
            </a:avLst>
          </a:prstGeom>
          <a:solidFill>
            <a:srgbClr val="002A8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885" y="4187031"/>
            <a:ext cx="217780" cy="1742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66889" y="4152007"/>
            <a:ext cx="2195458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funcional es el territorio natural del ingeniero industrial.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502"/>
            <a:ext cx="10868745" cy="45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Proceso de Dirección Estratégica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5445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404056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Análisis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793350"/>
            <a:ext cx="1902004" cy="40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PESTEL, 5 fuerzas y cadena de valor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970402"/>
            <a:ext cx="191245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Formulación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359695"/>
            <a:ext cx="1912454" cy="611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Misión, visión, objetivos y estrategias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67479"/>
            <a:ext cx="1902003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Implementación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56772"/>
            <a:ext cx="1902003" cy="40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Recursos, estructura y planes de acción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5072298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Evaluación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61591"/>
            <a:ext cx="1902004" cy="40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BSC, métricas y retroalimentación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56682" y="6181030"/>
            <a:ext cx="1147833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 proceso continuo, no lineal — cada fase retroalimenta a las anteriores para mantener la estrategia viva y adaptable.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952FA48F-5649-4FF0-9CD3-6A98651B7ECD}"/>
              </a:ext>
            </a:extLst>
          </p:cNvPr>
          <p:cNvGrpSpPr/>
          <p:nvPr/>
        </p:nvGrpSpPr>
        <p:grpSpPr>
          <a:xfrm>
            <a:off x="661475" y="920651"/>
            <a:ext cx="1181963" cy="362744"/>
            <a:chOff x="661475" y="920651"/>
            <a:chExt cx="1181963" cy="362744"/>
          </a:xfrm>
        </p:grpSpPr>
        <p:sp>
          <p:nvSpPr>
            <p:cNvPr id="2" name="Shape 0"/>
            <p:cNvSpPr/>
            <p:nvPr/>
          </p:nvSpPr>
          <p:spPr>
            <a:xfrm>
              <a:off x="661475" y="920651"/>
              <a:ext cx="858043" cy="362744"/>
            </a:xfrm>
            <a:prstGeom prst="roundRect">
              <a:avLst>
                <a:gd name="adj" fmla="val 22118"/>
              </a:avLst>
            </a:prstGeom>
            <a:noFill/>
            <a:ln w="12700">
              <a:solidFill>
                <a:srgbClr val="6296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774879" y="977305"/>
              <a:ext cx="1068559" cy="1738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400" dirty="0">
                  <a:solidFill>
                    <a:srgbClr val="6296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FASE 1</a:t>
              </a:r>
              <a:endParaRPr lang="en-US" sz="14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61475" y="1283395"/>
            <a:ext cx="5203794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Análisis: Ver el Entorno con Ojos de Ingeniero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87526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37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PESTEL aplicado a manufactura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3083620"/>
            <a:ext cx="5203794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planta automotriz en México analiza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aranceles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(político),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tipo de cambio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(económico) y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automatización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(tecnológico) antes de tomar decisiones de expansión de capacidad. El análisis externo no es abstracto — tiene consecuencias directas en la línea de producción.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500959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Cadena de Valor de Porter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997053"/>
            <a:ext cx="5203794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Identifica actividades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primarias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(producción, logística de entrada y salida) y de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apoyo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(compras, RRHH, infraestructura) donde el ingeniero industrial puede generar ventaja competitiva medible.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4C777D40-6E9E-4126-A605-7D89664D7F94}"/>
              </a:ext>
            </a:extLst>
          </p:cNvPr>
          <p:cNvGrpSpPr/>
          <p:nvPr/>
        </p:nvGrpSpPr>
        <p:grpSpPr>
          <a:xfrm>
            <a:off x="661475" y="759221"/>
            <a:ext cx="1141582" cy="309265"/>
            <a:chOff x="661475" y="759221"/>
            <a:chExt cx="1141582" cy="309265"/>
          </a:xfrm>
        </p:grpSpPr>
        <p:sp>
          <p:nvSpPr>
            <p:cNvPr id="3" name="Shape 0"/>
            <p:cNvSpPr/>
            <p:nvPr/>
          </p:nvSpPr>
          <p:spPr>
            <a:xfrm>
              <a:off x="661475" y="759221"/>
              <a:ext cx="844596" cy="309265"/>
            </a:xfrm>
            <a:prstGeom prst="roundRect">
              <a:avLst>
                <a:gd name="adj" fmla="val 22103"/>
              </a:avLst>
            </a:prstGeom>
            <a:noFill/>
            <a:ln w="12700">
              <a:solidFill>
                <a:srgbClr val="6296FF"/>
              </a:solidFill>
              <a:prstDash val="solid"/>
            </a:ln>
          </p:spPr>
        </p:sp>
        <p:sp>
          <p:nvSpPr>
            <p:cNvPr id="4" name="Text 1"/>
            <p:cNvSpPr/>
            <p:nvPr/>
          </p:nvSpPr>
          <p:spPr>
            <a:xfrm>
              <a:off x="760691" y="808831"/>
              <a:ext cx="1042366" cy="1522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400" dirty="0">
                  <a:solidFill>
                    <a:srgbClr val="6296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FASE 2</a:t>
              </a:r>
              <a:endParaRPr lang="en-US" sz="1400" dirty="0"/>
            </a:p>
          </p:txBody>
        </p:sp>
      </p:grpSp>
      <p:sp>
        <p:nvSpPr>
          <p:cNvPr id="5" name="Text 2"/>
          <p:cNvSpPr/>
          <p:nvPr/>
        </p:nvSpPr>
        <p:spPr>
          <a:xfrm>
            <a:off x="661475" y="1068487"/>
            <a:ext cx="6296860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Formulación: De la Visión al Plan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822946"/>
            <a:ext cx="6296860" cy="13288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2017" y="2007295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Misión con propósito operativo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922017" y="2362895"/>
            <a:ext cx="5851974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"Producir con cero defectos al menor costo posible" orienta decisiones de proceso de forma concreta. Una misión ambigua produce estrategias ambiguas.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96444"/>
            <a:ext cx="6296860" cy="13288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2017" y="3480792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Objetivos SMART en manufactura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922017" y="3836392"/>
            <a:ext cx="5851974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"Reducir el tiempo de ciclo en la línea de ensamble un </a:t>
            </a:r>
            <a:r>
              <a:rPr lang="en-US" sz="1300" b="1" i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15% en 12 meses</a:t>
            </a: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mediante implementación de SMED"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específico, medible, alcanzable, relevante y con tiempo definido.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69941"/>
            <a:ext cx="6296860" cy="13288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4954290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Coherencia vertical obligatoria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922017" y="5309890"/>
            <a:ext cx="5851974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funcional debe ser coherente con la estrategia de negocio elegida. Producir con flexibilidad cuando la estrategia exige costo mínimo es una contradicción sistémica.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142F9983-4843-468A-9192-BF8E39983171}"/>
              </a:ext>
            </a:extLst>
          </p:cNvPr>
          <p:cNvGrpSpPr/>
          <p:nvPr/>
        </p:nvGrpSpPr>
        <p:grpSpPr>
          <a:xfrm>
            <a:off x="661475" y="952599"/>
            <a:ext cx="1188214" cy="342305"/>
            <a:chOff x="661475" y="952599"/>
            <a:chExt cx="1188214" cy="342305"/>
          </a:xfrm>
        </p:grpSpPr>
        <p:sp>
          <p:nvSpPr>
            <p:cNvPr id="2" name="Shape 0"/>
            <p:cNvSpPr/>
            <p:nvPr/>
          </p:nvSpPr>
          <p:spPr>
            <a:xfrm>
              <a:off x="661475" y="952599"/>
              <a:ext cx="844596" cy="342305"/>
            </a:xfrm>
            <a:prstGeom prst="roundRect">
              <a:avLst>
                <a:gd name="adj" fmla="val 22121"/>
              </a:avLst>
            </a:prstGeom>
            <a:noFill/>
            <a:ln w="12700">
              <a:solidFill>
                <a:srgbClr val="6296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769521" y="1006574"/>
              <a:ext cx="1080168" cy="1656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400" dirty="0">
                  <a:solidFill>
                    <a:srgbClr val="6296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FASE 3</a:t>
              </a:r>
              <a:endParaRPr lang="en-US" sz="14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61475" y="1294904"/>
            <a:ext cx="5214609" cy="117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Implementación: El Reto del Ingeniero Industrial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637730"/>
            <a:ext cx="5214609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80% de las estrategias fracasan en la implementación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 en la formulación — según Harvard Business Review. Formular es relativamente fácil</a:t>
            </a:r>
            <a:r>
              <a:rPr lang="en-US" sz="14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r>
              <a:rPr lang="en-US" sz="1400" dirty="0">
                <a:solidFill>
                  <a:schemeClr val="bg1"/>
                </a:solidFill>
                <a:highlight>
                  <a:srgbClr val="FF0000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Ejecutar es donde se gana o se pierde.</a:t>
            </a:r>
            <a:endParaRPr lang="en-US" sz="140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3724176"/>
            <a:ext cx="5214609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 Amazon: Entrega en 1 día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4188619"/>
            <a:ext cx="5214609" cy="175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Amazon implementó su estrategia de entrega en 1 día requiriendo el rediseño completo de su red de distribución: </a:t>
            </a: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175 centros de fulfillment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algoritmos de ruteo en tiempo real y reposicionamiento predictivo de inventario.</a:t>
            </a:r>
            <a:endParaRPr lang="en-US" sz="1400" dirty="0"/>
          </a:p>
          <a:p>
            <a:pPr marL="0" indent="0" algn="just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ingeniero industrial </a:t>
            </a: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lidera la traducción</a:t>
            </a: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estrategia en proyectos concretos, procesos rediseñados y métricas operativas verificables.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1961" y="952599"/>
            <a:ext cx="2521482" cy="1548805"/>
          </a:xfrm>
          <a:prstGeom prst="roundRect">
            <a:avLst>
              <a:gd name="adj" fmla="val 488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1088" y="1151731"/>
            <a:ext cx="212322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Proyectos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521088" y="1616174"/>
            <a:ext cx="2123228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Iniciativas con alcance, tiempo y recursos definidos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15088" y="952599"/>
            <a:ext cx="2521482" cy="1548805"/>
          </a:xfrm>
          <a:prstGeom prst="roundRect">
            <a:avLst>
              <a:gd name="adj" fmla="val 488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14215" y="1151731"/>
            <a:ext cx="212322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Procesos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214215" y="1616174"/>
            <a:ext cx="2123228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Rediseño de flujos para soportar la nueva estrategia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1961" y="2673052"/>
            <a:ext cx="2521482" cy="1548805"/>
          </a:xfrm>
          <a:prstGeom prst="roundRect">
            <a:avLst>
              <a:gd name="adj" fmla="val 488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1088" y="2872184"/>
            <a:ext cx="212322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Métricas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521088" y="3336627"/>
            <a:ext cx="2123228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 operativos vinculados a objetivos estratégicos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15088" y="2673052"/>
            <a:ext cx="2521482" cy="1548805"/>
          </a:xfrm>
          <a:prstGeom prst="roundRect">
            <a:avLst>
              <a:gd name="adj" fmla="val 488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4215" y="2872184"/>
            <a:ext cx="2123228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214215" y="3336627"/>
            <a:ext cx="2123228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Estructura organizacional y capacidades requeridas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92205ACA-BC0F-4AA6-9F03-176FAF418A34}"/>
              </a:ext>
            </a:extLst>
          </p:cNvPr>
          <p:cNvGrpSpPr/>
          <p:nvPr/>
        </p:nvGrpSpPr>
        <p:grpSpPr>
          <a:xfrm>
            <a:off x="661474" y="304801"/>
            <a:ext cx="672026" cy="383478"/>
            <a:chOff x="661475" y="519807"/>
            <a:chExt cx="360056" cy="143470"/>
          </a:xfrm>
        </p:grpSpPr>
        <p:sp>
          <p:nvSpPr>
            <p:cNvPr id="2" name="Shape 0"/>
            <p:cNvSpPr/>
            <p:nvPr/>
          </p:nvSpPr>
          <p:spPr>
            <a:xfrm>
              <a:off x="661475" y="519807"/>
              <a:ext cx="360056" cy="143470"/>
            </a:xfrm>
            <a:prstGeom prst="roundRect">
              <a:avLst>
                <a:gd name="adj" fmla="val 22134"/>
              </a:avLst>
            </a:prstGeom>
            <a:noFill/>
            <a:ln w="6350">
              <a:solidFill>
                <a:srgbClr val="6296FF"/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718127" y="548084"/>
              <a:ext cx="303404" cy="869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50" dirty="0">
                  <a:solidFill>
                    <a:srgbClr val="6296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FASE 4</a:t>
              </a:r>
              <a:endParaRPr lang="en-US" sz="10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61475" y="682128"/>
            <a:ext cx="10868745" cy="51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Control: Medir lo que </a:t>
            </a:r>
            <a:r>
              <a:rPr lang="en-US" sz="3500" b="1" kern="0" spc="-71" dirty="0" err="1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Importa</a:t>
            </a:r>
            <a:endParaRPr lang="en-US" sz="3500" b="1" kern="0" spc="-71" dirty="0">
              <a:solidFill>
                <a:srgbClr val="F2F5FA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3135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1137" y="1699612"/>
            <a:ext cx="5319083" cy="457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Balanced Scorecard (BSC)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1137" y="2276032"/>
            <a:ext cx="5319083" cy="58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BSC conecta indicadores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financieros, de clientes, procesos internos y aprendizaje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 un solo tablero estratégico — evitando la trampa de gestionar solo lo financiero.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1137" y="3108070"/>
            <a:ext cx="5319083" cy="21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Caso: Cervecería Modelo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1137" y="3509112"/>
            <a:ext cx="5319083" cy="666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Cervecería Modelo utiliza el BSC para monitorear el </a:t>
            </a:r>
            <a:r>
              <a:rPr lang="en-US" sz="12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OEE (Overall Equipment Effectiveness)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como indicador clave de proceso directamente alineado a rentabilidad operativa. Un indicador técnico con consecuencias estratégicas.</a:t>
            </a:r>
            <a:endParaRPr lang="en-US" sz="1200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21FAAEE-4032-4DDF-9792-D8194FEA63A7}"/>
              </a:ext>
            </a:extLst>
          </p:cNvPr>
          <p:cNvGrpSpPr/>
          <p:nvPr/>
        </p:nvGrpSpPr>
        <p:grpSpPr>
          <a:xfrm>
            <a:off x="6211136" y="4644661"/>
            <a:ext cx="5549660" cy="752839"/>
            <a:chOff x="6211137" y="4060461"/>
            <a:chExt cx="5549660" cy="752839"/>
          </a:xfrm>
        </p:grpSpPr>
        <p:sp>
          <p:nvSpPr>
            <p:cNvPr id="10" name="Shape 7"/>
            <p:cNvSpPr/>
            <p:nvPr/>
          </p:nvSpPr>
          <p:spPr>
            <a:xfrm>
              <a:off x="6211137" y="4060461"/>
              <a:ext cx="5319083" cy="513727"/>
            </a:xfrm>
            <a:prstGeom prst="roundRect">
              <a:avLst>
                <a:gd name="adj" fmla="val 17694"/>
              </a:avLst>
            </a:prstGeom>
            <a:solidFill>
              <a:srgbClr val="002A80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5591" y="4131304"/>
              <a:ext cx="118067" cy="94456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6518112" y="4126542"/>
              <a:ext cx="5242685" cy="6867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1000"/>
                </a:lnSpc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Sin control</a:t>
              </a:r>
              <a:r>
                <a:rPr lang="en-US" sz="1400" dirty="0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, la estrategia es solo un documento. </a:t>
              </a:r>
            </a:p>
            <a:p>
              <a:pPr marL="0" indent="0" algn="l">
                <a:lnSpc>
                  <a:spcPct val="8100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La </a:t>
              </a:r>
              <a:r>
                <a:rPr lang="en-US" sz="1400" dirty="0" err="1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Inteligencia</a:t>
              </a:r>
              <a:r>
                <a:rPr lang="en-US" sz="1400" dirty="0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  de </a:t>
              </a:r>
              <a:r>
                <a:rPr lang="en-US" sz="1400" dirty="0" err="1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Negocios</a:t>
              </a:r>
              <a:r>
                <a:rPr lang="en-US" sz="1400" dirty="0">
                  <a:solidFill>
                    <a:srgbClr val="FFFF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 convierte datos en decisiones.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74179"/>
            <a:ext cx="6296860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7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Alineación Estratégica: El Error más Común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2141141"/>
            <a:ext cx="293233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FFC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desalineación típica</a:t>
            </a:r>
            <a:endParaRPr lang="en-US" sz="1700" dirty="0">
              <a:solidFill>
                <a:srgbClr val="FFC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2595166"/>
            <a:ext cx="2932337" cy="2827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planta produce en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grandes lotes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para maximizar eficiencia de maquinaria — pero la estrategia corporativa exige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personalización rápida y lotes pequeños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Dos objetivos contradictorios coexistiendo en la misma operación.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resultado: inventarios inflados, tiempos de respuesta lentos y clientes insatisfechos, aunque la planta "sea eficiente" según sus propias métricas.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04233" y="2141141"/>
            <a:ext cx="2932337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Solución: Hoshin Kanri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04233" y="2595166"/>
            <a:ext cx="2932337" cy="1115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despliegue de política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(Hoshin Kanri) es la metodología japonesa que alinea objetivos corporativos con planes funcionales en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cascada verificable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04233" y="3860304"/>
            <a:ext cx="2932337" cy="1455142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Objetivos corporativos 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metas de negocio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Metas de negocio 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planes funcionales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Planes funcionales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acciones operativas medibles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04233" y="5464870"/>
            <a:ext cx="2932337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Herramienta clave para el ingeniero industrial en manufactura y logística.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2266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 Integrador: Estrategia en una Planta de Manufactura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88816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35487"/>
            <a:ext cx="25399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FFFF00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850" b="1" kern="0" spc="-37" dirty="0">
                <a:solidFill>
                  <a:srgbClr val="EBEDF0"/>
                </a:solidFill>
                <a:highlight>
                  <a:srgbClr val="FFFF00"/>
                </a:highlight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Nivel Corporativo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55976"/>
            <a:ext cx="2539936" cy="171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Grupo industrial decide expandirse al mercado de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autopartes eléctricas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una decisión de portafolio con implicaciones de inversión, capacidad y talento.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88816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35487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00FFFF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b="1" kern="0" spc="-37" dirty="0">
                <a:solidFill>
                  <a:srgbClr val="EBEDF0"/>
                </a:solidFill>
                <a:highlight>
                  <a:srgbClr val="00FFFF"/>
                </a:highlight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Nivel de Negocio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155976"/>
            <a:ext cx="254003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Estrategia de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diferenciación por calidad y tiempo de entrega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</a:t>
            </a:r>
            <a:r>
              <a:rPr lang="en-US" sz="1450" dirty="0">
                <a:solidFill>
                  <a:srgbClr val="00B0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por precio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La planta no compite en volumen sino en confiabilidad y precisión.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88816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35487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C0C0C0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Nivel Funcional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155976"/>
            <a:ext cx="254003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IE implementa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Lean Manufacturing + certificación IATF 16949 + rediseño de layout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para reducir lead time de 12 a </a:t>
            </a: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días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88816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35487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highlight>
                  <a:srgbClr val="808000"/>
                </a:highlight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Resultado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55976"/>
            <a:ext cx="254003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Contrato con Tier-1 automotriz por </a:t>
            </a: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$8 millones anuales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Estrategia coherente en los tres niveles = ventaja competitiva real y sostenible.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35583"/>
            <a:ext cx="6296860" cy="1209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Ingeniero Industrial como Estratega Operativo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835107" y="2077740"/>
            <a:ext cx="569511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Visión de negocio, no solo técnica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835107" y="2489895"/>
            <a:ext cx="5695113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Dominar los tres niveles de estrategia permite al IE tomar decisiones de proceso con impacto real en la competitividad — no solo en la eficiencia local.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835107" y="3634085"/>
            <a:ext cx="569511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Próximos pasos concretos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35107" y="4046240"/>
            <a:ext cx="5695113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Aplica análisis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PESTEL y cadena de valor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tu empresa, proyecto de tesis o caso de estudio. La teoría sin aplicación no desarrolla la competencia estratégica.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35107" y="5190430"/>
            <a:ext cx="5695113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ventaja competitiva vive en la operación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35107" y="5602585"/>
            <a:ext cx="5695113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ventaja competitiva sostenible se construye en el piso de producción, en el centro de distribución, en la línea de ensamble — </a:t>
            </a: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 ahí es donde el ingeniero industrial manda.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1368</Words>
  <Application>Microsoft Office PowerPoint</Application>
  <PresentationFormat>Panorámica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Twemoji Mozilla</vt:lpstr>
      <vt:lpstr>Geist Bold</vt:lpstr>
      <vt:lpstr>Calibri</vt:lpstr>
      <vt:lpstr>Geist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 LAPTOP</dc:creator>
  <cp:lastModifiedBy>HP LAPTOP</cp:lastModifiedBy>
  <cp:revision>8</cp:revision>
  <dcterms:created xsi:type="dcterms:W3CDTF">2026-08-28T20:18:59Z</dcterms:created>
  <dcterms:modified xsi:type="dcterms:W3CDTF">2026-09-04T03:18:30Z</dcterms:modified>
</cp:coreProperties>
</file>