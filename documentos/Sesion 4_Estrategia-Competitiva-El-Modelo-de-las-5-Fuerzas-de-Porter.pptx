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embeddedFontLst>
    <p:embeddedFont>
      <p:font typeface="Arimo" panose="020B0604020202020204" charset="0"/>
      <p:regular r:id="rId27"/>
    </p:embeddedFont>
    <p:embeddedFont>
      <p:font typeface="Arimo Bold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Syne" panose="020B0604020202020204" charset="0"/>
      <p:regular r:id="rId33"/>
    </p:embeddedFont>
    <p:embeddedFont>
      <p:font typeface="Syne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71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816497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Estrategia Competitiva: El Modelo de las 5 Fuerzas de Porter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87568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 marco analítico fundamental para comprender la rentabilidad de las industrias y diseñar ventajas competitivas sostenibles.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738390"/>
            <a:ext cx="2408475" cy="303113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6" name="Text 3"/>
          <p:cNvSpPr/>
          <p:nvPr/>
        </p:nvSpPr>
        <p:spPr>
          <a:xfrm>
            <a:off x="817740" y="4798219"/>
            <a:ext cx="277875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ESTRATEGIA EMPRESARIAL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6273" y="4738390"/>
            <a:ext cx="1693225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80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25928" y="4798219"/>
            <a:ext cx="206350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MICHAEL PORTER 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24185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Capítulo 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98086" y="99724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Tablero de Juego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1883073"/>
            <a:ext cx="3012107" cy="2701032"/>
          </a:xfrm>
          <a:prstGeom prst="roundRect">
            <a:avLst>
              <a:gd name="adj" fmla="val 1108"/>
            </a:avLst>
          </a:prstGeom>
          <a:solidFill>
            <a:srgbClr val="2B2952"/>
          </a:solidFill>
          <a:ln/>
        </p:spPr>
      </p:sp>
      <p:sp>
        <p:nvSpPr>
          <p:cNvPr id="6" name="Text 3"/>
          <p:cNvSpPr/>
          <p:nvPr/>
        </p:nvSpPr>
        <p:spPr>
          <a:xfrm>
            <a:off x="897510" y="2082502"/>
            <a:ext cx="261325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Ecosistema Interconectado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7510" y="2788741"/>
            <a:ext cx="261325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 empresas no operan aisladas: forman parte de una red de fuerzas que determinan su rentabilidad.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909617" y="1883073"/>
            <a:ext cx="3012107" cy="2701032"/>
          </a:xfrm>
          <a:prstGeom prst="roundRect">
            <a:avLst>
              <a:gd name="adj" fmla="val 1108"/>
            </a:avLst>
          </a:prstGeom>
          <a:solidFill>
            <a:srgbClr val="2B2952"/>
          </a:solidFill>
          <a:ln/>
        </p:spPr>
      </p:sp>
      <p:sp>
        <p:nvSpPr>
          <p:cNvPr id="9" name="Text 6"/>
          <p:cNvSpPr/>
          <p:nvPr/>
        </p:nvSpPr>
        <p:spPr>
          <a:xfrm>
            <a:off x="4109042" y="2082502"/>
            <a:ext cx="261325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 Revolución de Porter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09042" y="2788741"/>
            <a:ext cx="2613257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 1979, Michael Porter definió qué hace rentable a una industria, transformando el pensamiento estratégico global.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8086" y="4783534"/>
            <a:ext cx="6223638" cy="1450181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12" name="Text 9"/>
          <p:cNvSpPr/>
          <p:nvPr/>
        </p:nvSpPr>
        <p:spPr>
          <a:xfrm>
            <a:off x="897510" y="4982964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 Estratégico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97510" y="5395913"/>
            <a:ext cx="58247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Identificar las fuerzas subyacentes del entorno competitivo para construir y sostener ventaja competitiva.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336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Modelo de las 5 Fuerzas de Porter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196788"/>
            <a:ext cx="10795524" cy="97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 Cinco Fuerzas de Porter son un marco estratégico para analizar la competencia dentro de una industria. Comprender estas fuerzas ayuda a las empresas a identificar oportunidades y amenazas, así como a desarrollar estrategias que maximicen su rentabilidad a largo plazo.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4" y="2263701"/>
            <a:ext cx="7222059" cy="40309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61679" y="2476401"/>
            <a:ext cx="3943133" cy="403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 el corazón del modelo se encuentra la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Rivalidad entre Competidores Existentes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la cual es directamente influenciada por las otras cuatro fuerzas: la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Amenaza de Nuevos Entrantes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la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Amenaza de Productos Sustitutos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el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Poder de Negociación de los Compradores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el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Poder de Negociación de los Proveedores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Cada fuerza juega un papel crucial en la determinación de la estructura y el atractivo de una industria.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784324"/>
            <a:ext cx="6857332" cy="38573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17964" y="773509"/>
            <a:ext cx="938784" cy="284162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8130079" y="829568"/>
            <a:ext cx="132414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FUERZA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017964" y="1127720"/>
            <a:ext cx="3481896" cy="1649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Amenaza de Nuevos Entrantes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8017964" y="2952948"/>
            <a:ext cx="3481896" cy="173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rentabilidad de una industria atrae inevitablemente a nuevos competidores, erosionando los márgenes existentes. Las </a:t>
            </a: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barreras de entrada</a:t>
            </a: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actúan como escudo protector para los actores establecidos.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232" y="5052467"/>
            <a:ext cx="280484" cy="280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05785" y="5046762"/>
            <a:ext cx="284472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Economías de escala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305785" y="5426968"/>
            <a:ext cx="2844729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Ventaja de costos inalcanzable para pequeños entrantes.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9730" y="5052467"/>
            <a:ext cx="280484" cy="280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77283" y="5046762"/>
            <a:ext cx="2844729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Diferenciación del producto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4977283" y="5702002"/>
            <a:ext cx="2844729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lealtad de marca construida durante años es difícil de replicar.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1228" y="5052467"/>
            <a:ext cx="280484" cy="280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48781" y="5046762"/>
            <a:ext cx="284482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Acceso a canales de distribución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8648781" y="5702002"/>
            <a:ext cx="284482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Redes establecidas limitan el alcance de nuevos jugadores.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15082"/>
            <a:ext cx="907730" cy="274638"/>
          </a:xfrm>
          <a:prstGeom prst="roundRect">
            <a:avLst>
              <a:gd name="adj" fmla="val 7899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06529" y="869255"/>
            <a:ext cx="1300428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FUERZA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8086" y="1155204"/>
            <a:ext cx="3491817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Amenaza de Productos Sustitutos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98086" y="2913856"/>
            <a:ext cx="3491817" cy="1653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verdadero competidor no siempre vende lo mismo. Un sustituto es cualquier producto o servicio que satisface la misma necesidad de forma alternativa, frecuentemente con una mejor relación precio-rendimiento.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170" y="742851"/>
            <a:ext cx="6862690" cy="386030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971653"/>
            <a:ext cx="5315809" cy="13277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55" y="5177830"/>
            <a:ext cx="480186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Sustitutos Cercanos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005855" y="5541963"/>
            <a:ext cx="4801869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cliente migra hacia alternativas más eficientes o económicas sin fricciones.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7701" y="4971653"/>
            <a:ext cx="5315908" cy="13277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85470" y="5177830"/>
            <a:ext cx="4801968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Costo de Cambio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485470" y="5541963"/>
            <a:ext cx="4801968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Factor clave: a menor costo de cambio, mayor vulnerabilidad ante sustitutos.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585291"/>
            <a:ext cx="1001787" cy="303113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817740" y="645120"/>
            <a:ext cx="137206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FUERZA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96817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Poder de Negociación de los Proveedores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98086" y="2440682"/>
            <a:ext cx="6223638" cy="3832027"/>
          </a:xfrm>
          <a:prstGeom prst="roundRect">
            <a:avLst>
              <a:gd name="adj" fmla="val 781"/>
            </a:avLst>
          </a:prstGeom>
          <a:solidFill>
            <a:srgbClr val="2B2952"/>
          </a:solidFill>
          <a:ln/>
        </p:spPr>
      </p:sp>
      <p:sp>
        <p:nvSpPr>
          <p:cNvPr id="7" name="Shape 4"/>
          <p:cNvSpPr/>
          <p:nvPr/>
        </p:nvSpPr>
        <p:spPr>
          <a:xfrm>
            <a:off x="698086" y="2440682"/>
            <a:ext cx="3111819" cy="2381845"/>
          </a:xfrm>
          <a:custGeom>
            <a:avLst/>
            <a:gdLst/>
            <a:ahLst/>
            <a:cxnLst/>
            <a:rect l="l" t="t" r="r" b="b"/>
            <a:pathLst>
              <a:path w="3111819" h="2381845">
                <a:moveTo>
                  <a:pt x="24935" y="0"/>
                </a:moveTo>
                <a:lnTo>
                  <a:pt x="3111819" y="0"/>
                </a:lnTo>
                <a:lnTo>
                  <a:pt x="3111819" y="2381845"/>
                </a:lnTo>
                <a:lnTo>
                  <a:pt x="0" y="2381845"/>
                </a:lnTo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897510" y="2640112"/>
            <a:ext cx="2712970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Proveedor como Actor Estratégico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7510" y="3346351"/>
            <a:ext cx="2712970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es solo un vendedor: ejerce presión sobre costos, calidad y disponibilidad de insumos críticos.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3809905" y="2440682"/>
            <a:ext cx="3111819" cy="2381845"/>
          </a:xfrm>
          <a:custGeom>
            <a:avLst/>
            <a:gdLst/>
            <a:ahLst/>
            <a:cxnLst/>
            <a:rect l="l" t="t" r="r" b="b"/>
            <a:pathLst>
              <a:path w="3111819" h="2381845">
                <a:moveTo>
                  <a:pt x="0" y="0"/>
                </a:moveTo>
                <a:lnTo>
                  <a:pt x="3086884" y="0"/>
                </a:lnTo>
                <a:arcTo wR="24935" hR="24935" stAng="16200000" swAng="5400000"/>
                <a:lnTo>
                  <a:pt x="3111819" y="2381845"/>
                </a:lnTo>
                <a:lnTo>
                  <a:pt x="0" y="2381845"/>
                </a:lnTo>
                <a:lnTo>
                  <a:pt x="0" y="0"/>
                </a:lnTo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440682"/>
            <a:ext cx="25399" cy="2381845"/>
          </a:xfrm>
          <a:prstGeom prst="roundRect">
            <a:avLst>
              <a:gd name="adj" fmla="val 50001"/>
            </a:avLst>
          </a:prstGeom>
          <a:solidFill>
            <a:srgbClr val="44426B"/>
          </a:solidFill>
          <a:ln/>
        </p:spPr>
      </p:sp>
      <p:sp>
        <p:nvSpPr>
          <p:cNvPr id="12" name="Text 9"/>
          <p:cNvSpPr/>
          <p:nvPr/>
        </p:nvSpPr>
        <p:spPr>
          <a:xfrm>
            <a:off x="4009329" y="2640112"/>
            <a:ext cx="2712970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Concentración del Mercado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09329" y="3346351"/>
            <a:ext cx="2712970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Cuando pocos proveedores dominan la oferta, el poder de negociación se desplaza drásticamente hacia ellos.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8086" y="4822527"/>
            <a:ext cx="6223638" cy="1450181"/>
          </a:xfrm>
          <a:custGeom>
            <a:avLst/>
            <a:gdLst/>
            <a:ahLst/>
            <a:cxnLst/>
            <a:rect l="l" t="t" r="r" b="b"/>
            <a:pathLst>
              <a:path w="6223638" h="1450181">
                <a:moveTo>
                  <a:pt x="0" y="0"/>
                </a:moveTo>
                <a:lnTo>
                  <a:pt x="6223638" y="0"/>
                </a:lnTo>
                <a:lnTo>
                  <a:pt x="6223638" y="1425246"/>
                </a:lnTo>
                <a:arcTo wR="24935" hR="24935" stAng="0" swAng="5400000"/>
                <a:lnTo>
                  <a:pt x="24935" y="1450181"/>
                </a:lnTo>
                <a:arcTo wR="24935" hR="24935" stAng="5400000" swAng="5400000"/>
                <a:lnTo>
                  <a:pt x="0" y="0"/>
                </a:lnTo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15" name="Shape 12"/>
          <p:cNvSpPr/>
          <p:nvPr/>
        </p:nvSpPr>
        <p:spPr>
          <a:xfrm>
            <a:off x="698086" y="4822527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44426B"/>
          </a:solidFill>
          <a:ln/>
        </p:spPr>
      </p:sp>
      <p:sp>
        <p:nvSpPr>
          <p:cNvPr id="16" name="Text 13"/>
          <p:cNvSpPr/>
          <p:nvPr/>
        </p:nvSpPr>
        <p:spPr>
          <a:xfrm>
            <a:off x="897510" y="5021957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Impacto en Márgenes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97510" y="5434905"/>
            <a:ext cx="58247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capacidad del proveedor de elevar precios comprime directamente la rentabilidad del comprador.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86680"/>
            <a:ext cx="622363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Capítulo 2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269971" y="832247"/>
            <a:ext cx="6223638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Cliente en el Centro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5269971" y="1503462"/>
            <a:ext cx="704138" cy="213122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806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54107" y="1545530"/>
            <a:ext cx="1145452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FUERZA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269971" y="1755973"/>
            <a:ext cx="2940770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Poder de Negociación de los Compradores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5269971" y="2844502"/>
            <a:ext cx="2940770" cy="180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compradores comparan, negocian y exigen. Su poder varía según el </a:t>
            </a:r>
            <a:r>
              <a:rPr lang="en-US" sz="11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volumen de compra</a:t>
            </a: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la facilidad para cambiar de proveedor y el acceso a información del mercado.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rigor analítico aplicado a clientes B2B debe extenderse igualmente al consumidor final, quien hoy dispone de herramientas de comparación sin precedentes.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59189" y="1503462"/>
            <a:ext cx="2940770" cy="1486595"/>
          </a:xfrm>
          <a:prstGeom prst="roundRect">
            <a:avLst>
              <a:gd name="adj" fmla="val 1415"/>
            </a:avLst>
          </a:prstGeom>
          <a:solidFill>
            <a:srgbClr val="2B2952"/>
          </a:solidFill>
          <a:ln/>
        </p:spPr>
      </p:sp>
      <p:sp>
        <p:nvSpPr>
          <p:cNvPr id="10" name="Shape 7"/>
          <p:cNvSpPr/>
          <p:nvPr/>
        </p:nvSpPr>
        <p:spPr>
          <a:xfrm>
            <a:off x="8699382" y="1643658"/>
            <a:ext cx="420776" cy="420787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5068" y="1759347"/>
            <a:ext cx="189305" cy="1893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99382" y="2162969"/>
            <a:ext cx="26603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Alto volumen de compra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99382" y="2467670"/>
            <a:ext cx="266038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Mayor poder de negociación sobre precios y condiciones.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559189" y="3088580"/>
            <a:ext cx="2940770" cy="1486595"/>
          </a:xfrm>
          <a:prstGeom prst="roundRect">
            <a:avLst>
              <a:gd name="adj" fmla="val 1415"/>
            </a:avLst>
          </a:prstGeom>
          <a:solidFill>
            <a:srgbClr val="2B2952"/>
          </a:solidFill>
          <a:ln/>
        </p:spPr>
      </p:sp>
      <p:sp>
        <p:nvSpPr>
          <p:cNvPr id="15" name="Shape 11"/>
          <p:cNvSpPr/>
          <p:nvPr/>
        </p:nvSpPr>
        <p:spPr>
          <a:xfrm>
            <a:off x="8699382" y="3228777"/>
            <a:ext cx="420776" cy="420787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5068" y="3344466"/>
            <a:ext cx="189305" cy="1893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99382" y="3748088"/>
            <a:ext cx="26603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Facilidad de cambio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699382" y="4052788"/>
            <a:ext cx="266038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Bajos costos de cambio amplifican el poder del comprador.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559189" y="4673699"/>
            <a:ext cx="2940770" cy="1486595"/>
          </a:xfrm>
          <a:prstGeom prst="roundRect">
            <a:avLst>
              <a:gd name="adj" fmla="val 1415"/>
            </a:avLst>
          </a:prstGeom>
          <a:solidFill>
            <a:srgbClr val="2B295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99382" y="4813895"/>
            <a:ext cx="420776" cy="420787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15068" y="4929584"/>
            <a:ext cx="189305" cy="18930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99382" y="5333206"/>
            <a:ext cx="26603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Acceso a información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699382" y="5637907"/>
            <a:ext cx="266038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cliente informado exige más y tolera menos márgenes opacos.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745728"/>
            <a:ext cx="6857332" cy="38573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17964" y="749697"/>
            <a:ext cx="938784" cy="284162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8130079" y="805755"/>
            <a:ext cx="132414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FUERZA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017964" y="1103908"/>
            <a:ext cx="3481896" cy="2199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Rivalidad entre Competidores Existentes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8017964" y="3479105"/>
            <a:ext cx="3481896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fuerza central del modelo: integra la presión de las otras cuatro dimensiones y determina la intensidad de la competencia dentro de la industria.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8086" y="4997351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776417" y="5042694"/>
            <a:ext cx="26401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294177" y="5061545"/>
            <a:ext cx="285633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Guerra de precios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94177" y="5441752"/>
            <a:ext cx="2856337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competencia destructiva reduce márgenes sin crear valor sostenible.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69584" y="4997351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2" name="Text 9"/>
          <p:cNvSpPr/>
          <p:nvPr/>
        </p:nvSpPr>
        <p:spPr>
          <a:xfrm>
            <a:off x="4447915" y="5042694"/>
            <a:ext cx="26401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4965675" y="5061545"/>
            <a:ext cx="285633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Diferenciación positiva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65675" y="5441752"/>
            <a:ext cx="2856337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Competir por valor creado es el dilema estratégico central.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41082" y="4997351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6" name="Text 13"/>
          <p:cNvSpPr/>
          <p:nvPr/>
        </p:nvSpPr>
        <p:spPr>
          <a:xfrm>
            <a:off x="8119413" y="5042694"/>
            <a:ext cx="26401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8637173" y="5061545"/>
            <a:ext cx="285643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Cuota vs. Valor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637173" y="5441752"/>
            <a:ext cx="2856436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Ganar participación de mercado sin sacrificar rentabilidad.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891"/>
            <a:ext cx="1079552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Capítulo 3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98086" y="911820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Dinámica y Evolución del Modelo</a:t>
            </a:r>
            <a:endParaRPr lang="en-US" sz="3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121" y="2501900"/>
            <a:ext cx="5116682" cy="30368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28423" y="4841579"/>
            <a:ext cx="1271909" cy="230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Dominó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525469" y="4841579"/>
            <a:ext cx="1271909" cy="230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Disrupción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896380" y="4841579"/>
            <a:ext cx="1271909" cy="230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Análisis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22925" y="1905794"/>
            <a:ext cx="3476935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modelo de Porter </a:t>
            </a: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 es una fotografía estática</a:t>
            </a: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es un mapa de tensiones en permanente evolución. Internet y la movilidad digital han reconfigurado sectores completos en pocos años.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22925" y="3891359"/>
            <a:ext cx="3476935" cy="2202855"/>
          </a:xfrm>
          <a:prstGeom prst="roundRect">
            <a:avLst>
              <a:gd name="adj" fmla="val 1295"/>
            </a:avLst>
          </a:prstGeom>
          <a:solidFill>
            <a:srgbClr val="19008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023" y="4163219"/>
            <a:ext cx="237623" cy="1901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0745" y="4101902"/>
            <a:ext cx="2669017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"billar estratégico": un cambio en una sola variable — como la aparición de un nuevo tecnología — redefine el equilibrio de todas las demás fuerzas simultáneamente.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77850"/>
            <a:ext cx="6223638" cy="93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Análisis de Caso: La Era de las Plataformas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69971" y="1702891"/>
            <a:ext cx="622363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Facebook bajo la lupa de Porter</a:t>
            </a: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Un caso paradigmático de cómo las fuerzas competitivas operan en el ecosistema digital.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302173"/>
            <a:ext cx="3048519" cy="22709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8884" y="2421334"/>
            <a:ext cx="190694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47965" y="2937966"/>
            <a:ext cx="2692531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Sustitutos emergentes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47965" y="3247727"/>
            <a:ext cx="2692531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Redes de nicho como TikTok, BeReal o Discord erosionan la hegemonía generalista mediante propuestas de valor específicas.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5090" y="2302173"/>
            <a:ext cx="3048519" cy="22709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4003" y="2421334"/>
            <a:ext cx="190694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623084" y="2937966"/>
            <a:ext cx="2692531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Barreras de entrada elevadas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623084" y="3481487"/>
            <a:ext cx="2692531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capital requerido para marketing masivo y alcance global supera largamente la barrera técnica de desarrollo.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699695"/>
            <a:ext cx="6223638" cy="15803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86443" y="4818856"/>
            <a:ext cx="190694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447965" y="5335488"/>
            <a:ext cx="5867650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Innovación constante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5447965" y="5645249"/>
            <a:ext cx="5867650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única respuesta sostenible: reinventarse continuamente para anticipar el movimiento de las fuerzas del entorno.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734913"/>
            <a:ext cx="6870727" cy="38648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3259" y="1462385"/>
            <a:ext cx="4028412" cy="15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Desafíos Contemporáneos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7993259" y="3122017"/>
            <a:ext cx="3506601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cambios macro redefinen el tablero competitivo con una velocidad sin precedentes históricos.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36" y="4912122"/>
            <a:ext cx="3494794" cy="13956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531" y="4931172"/>
            <a:ext cx="3266299" cy="504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Movilidad eléctrica y teletrabajo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07531" y="5523706"/>
            <a:ext cx="326629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Alteran el poder de negociación de proveedores energéticos y rediseñan cadenas de valor completas.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8926" y="4912122"/>
            <a:ext cx="3494794" cy="13956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67421" y="4931172"/>
            <a:ext cx="326629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 consumidor informado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567421" y="5271591"/>
            <a:ext cx="326629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Mayor transparencia reduce el margen de error: los compradores comparan en tiempo real y globalmente.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8816" y="4912122"/>
            <a:ext cx="3494794" cy="13956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7311" y="4931172"/>
            <a:ext cx="326629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Integración PEST + Porter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27311" y="5271591"/>
            <a:ext cx="326629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visión integral del entorno empresarial en 2026 exige combinar ambos marcos de análisis.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8273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Cómo Aplicar el Modelo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6837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Una metodología estructurada en tres pasos para operacionalizar el análisis de las 5 Fuerzas en cualquier organización.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590" y="2311896"/>
            <a:ext cx="6340515" cy="37632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8703" y="5211193"/>
            <a:ext cx="1576131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Rivalidad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346" y="5211193"/>
            <a:ext cx="1576131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Amenazas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33601" y="4925613"/>
            <a:ext cx="1667474" cy="85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Clientes y Proveedores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77354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Estrategias para Destacar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69971" y="2022376"/>
            <a:ext cx="3015182" cy="2644279"/>
          </a:xfrm>
          <a:prstGeom prst="roundRect">
            <a:avLst>
              <a:gd name="adj" fmla="val 1114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5466320" y="2218730"/>
            <a:ext cx="2622484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Reducir la Vulnerabilidad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66320" y="2912070"/>
            <a:ext cx="2622484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Posicionarse donde el ataque competitivo sea menos efectivo: construir fortalezas donde los rivales son más débiles.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478427" y="2022376"/>
            <a:ext cx="3015182" cy="2644279"/>
          </a:xfrm>
          <a:prstGeom prst="roundRect">
            <a:avLst>
              <a:gd name="adj" fmla="val 1114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8674776" y="2218730"/>
            <a:ext cx="262248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Cambiar las Reglas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74776" y="2623344"/>
            <a:ext cx="2622484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objetivo último no es adaptarse a las fuerzas: es alterarlas a tu favor mediante innovación o reconfiguración del sector.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269971" y="4859933"/>
            <a:ext cx="6223638" cy="1420614"/>
          </a:xfrm>
          <a:prstGeom prst="roundRect">
            <a:avLst>
              <a:gd name="adj" fmla="val 2073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5466320" y="5056287"/>
            <a:ext cx="583094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Honestidad Radical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66320" y="5460901"/>
            <a:ext cx="583094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Reconocer las fortalezas reales de la competencia es el primer paso para superarlas con una propuesta de valor superior.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850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Resumen de Aprendizajes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770684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2770684"/>
            <a:ext cx="268429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 Rentabilidad No es Azar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3476923"/>
            <a:ext cx="2684296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 el resultado sistemático de dominar el análisis del entorno competitivo y actuar sobre él con decisión estratégica.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9704" y="2770684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7695" y="2770684"/>
            <a:ext cx="2684296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Porter como Herramienta de Acción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127695" y="3770213"/>
            <a:ext cx="268429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modelo transforma datos complejos del entorno en planes de acción concretos y priorizados.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1322" y="2770684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09313" y="2770684"/>
            <a:ext cx="268429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Adaptarse o Transformar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809313" y="3476923"/>
            <a:ext cx="2684296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supervivencia pertenece a quienes comprenden las reglas del juego competitivo y toman la decisión de redefinirlas.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48580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Llamado a la Acción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98086" y="1156891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¿Está tu organización preparada para el entorno competitivo de mañana?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98086" y="3754041"/>
            <a:ext cx="6223638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 el análisis de las 5 Fuerzas </a:t>
            </a: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hoy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para convertir las presiones del mercado en tu principal ventaja competitiva. El conocimiento del entorno no es opcional: es el punto de partida de toda estrategia exitosa.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98086" y="4508599"/>
            <a:ext cx="6223638" cy="1800920"/>
          </a:xfrm>
          <a:prstGeom prst="roundRect">
            <a:avLst>
              <a:gd name="adj" fmla="val 1246"/>
            </a:avLst>
          </a:prstGeom>
          <a:solidFill>
            <a:srgbClr val="2B2952"/>
          </a:solidFill>
          <a:ln/>
        </p:spPr>
      </p:sp>
      <p:sp>
        <p:nvSpPr>
          <p:cNvPr id="7" name="Shape 4"/>
          <p:cNvSpPr/>
          <p:nvPr/>
        </p:nvSpPr>
        <p:spPr>
          <a:xfrm>
            <a:off x="698086" y="4508599"/>
            <a:ext cx="3111819" cy="1005185"/>
          </a:xfrm>
          <a:custGeom>
            <a:avLst/>
            <a:gdLst/>
            <a:ahLst/>
            <a:cxnLst/>
            <a:rect l="l" t="t" r="r" b="b"/>
            <a:pathLst>
              <a:path w="3111819" h="1005185">
                <a:moveTo>
                  <a:pt x="18701" y="0"/>
                </a:moveTo>
                <a:lnTo>
                  <a:pt x="3111819" y="0"/>
                </a:lnTo>
                <a:lnTo>
                  <a:pt x="3111819" y="1005185"/>
                </a:lnTo>
                <a:lnTo>
                  <a:pt x="0" y="1005185"/>
                </a:lnTo>
                <a:lnTo>
                  <a:pt x="0" y="18702"/>
                </a:lnTo>
                <a:arcTo wR="18701" hR="18702" stAng="10800000" swAng="5400000"/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847605" y="4658122"/>
            <a:ext cx="281278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Analiza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7605" y="4945360"/>
            <a:ext cx="2812781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Mapea las cinco fuerzas de tu industria con datos reales y actualizados.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09905" y="4508599"/>
            <a:ext cx="3111819" cy="1005185"/>
          </a:xfrm>
          <a:custGeom>
            <a:avLst/>
            <a:gdLst/>
            <a:ahLst/>
            <a:cxnLst/>
            <a:rect l="l" t="t" r="r" b="b"/>
            <a:pathLst>
              <a:path w="3111819" h="1005185">
                <a:moveTo>
                  <a:pt x="0" y="0"/>
                </a:moveTo>
                <a:lnTo>
                  <a:pt x="3093118" y="0"/>
                </a:lnTo>
                <a:arcTo wR="18701" hR="18702" stAng="16200000" swAng="5400000"/>
                <a:lnTo>
                  <a:pt x="3111819" y="1005185"/>
                </a:lnTo>
                <a:lnTo>
                  <a:pt x="0" y="1005185"/>
                </a:lnTo>
                <a:lnTo>
                  <a:pt x="0" y="0"/>
                </a:lnTo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4508599"/>
            <a:ext cx="19050" cy="1005185"/>
          </a:xfrm>
          <a:prstGeom prst="roundRect">
            <a:avLst>
              <a:gd name="adj" fmla="val 49999"/>
            </a:avLst>
          </a:prstGeom>
          <a:solidFill>
            <a:srgbClr val="44426B"/>
          </a:solidFill>
          <a:ln/>
        </p:spPr>
      </p:sp>
      <p:sp>
        <p:nvSpPr>
          <p:cNvPr id="12" name="Text 9"/>
          <p:cNvSpPr/>
          <p:nvPr/>
        </p:nvSpPr>
        <p:spPr>
          <a:xfrm>
            <a:off x="3959424" y="4658122"/>
            <a:ext cx="281278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Decide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59424" y="4945360"/>
            <a:ext cx="2812781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Define tu posicionamiento basado en el análisis, no en suposiciones.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8086" y="5513784"/>
            <a:ext cx="6223638" cy="795734"/>
          </a:xfrm>
          <a:custGeom>
            <a:avLst/>
            <a:gdLst/>
            <a:ahLst/>
            <a:cxnLst/>
            <a:rect l="l" t="t" r="r" b="b"/>
            <a:pathLst>
              <a:path w="6223638" h="795734">
                <a:moveTo>
                  <a:pt x="0" y="0"/>
                </a:moveTo>
                <a:lnTo>
                  <a:pt x="6223638" y="0"/>
                </a:lnTo>
                <a:lnTo>
                  <a:pt x="6223638" y="777033"/>
                </a:lnTo>
                <a:arcTo wR="18701" hR="18702" stAng="0" swAng="5400000"/>
                <a:lnTo>
                  <a:pt x="18701" y="795734"/>
                </a:lnTo>
                <a:arcTo wR="18701" hR="18702" stAng="5400000" swAng="5400000"/>
                <a:lnTo>
                  <a:pt x="0" y="0"/>
                </a:lnTo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15" name="Shape 12"/>
          <p:cNvSpPr/>
          <p:nvPr/>
        </p:nvSpPr>
        <p:spPr>
          <a:xfrm>
            <a:off x="698086" y="5513784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44426B"/>
          </a:solidFill>
          <a:ln/>
        </p:spPr>
      </p:sp>
      <p:sp>
        <p:nvSpPr>
          <p:cNvPr id="16" name="Text 13"/>
          <p:cNvSpPr/>
          <p:nvPr/>
        </p:nvSpPr>
        <p:spPr>
          <a:xfrm>
            <a:off x="847605" y="5663307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Transforma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47605" y="5950545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Actúa para alterar las fuerzas a tu favor de forma sostenida.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893689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Caso de Aplicación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98086" y="2266752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Las 5 Fuerzas de Porter en la Ingeniería Industrial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4325938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Aplicación del modelo al sector manufacturero y de ingeniería industrial en el contexto latinoamericano actual.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594"/>
            <a:ext cx="10795524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Contexto del Sector: Industria Manufacturera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30809"/>
            <a:ext cx="6897317" cy="3879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3850" y="1721224"/>
            <a:ext cx="3556010" cy="2581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ingeniería industrial opera en un entorno altamente sensible a las fluctuaciones de materias primas, cambios tecnológicos y presiones regulatorias. El análisis de Porter permite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diagnosticar la estructura competitiva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del sector y diseñar respuestas estratégicas efectivas.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5332413"/>
            <a:ext cx="5348451" cy="96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3526" y="5491659"/>
            <a:ext cx="4953769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Sector de Referencia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33526" y="5756970"/>
            <a:ext cx="495376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Empresa fabricante de componentes metálicos de precisión para la industria automotriz y aeronáutica.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5059" y="5332413"/>
            <a:ext cx="5348551" cy="9659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80499" y="5491659"/>
            <a:ext cx="495386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Mercado Objetivo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380499" y="5756970"/>
            <a:ext cx="495386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Clientes OEM (fabricantes de equipo original) en México, Colombia y Brasil.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Fuerza 1: Nuevos Entrantes en la Manufactura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151584"/>
            <a:ext cx="52761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Nivel de Amenaza: </a:t>
            </a:r>
            <a:r>
              <a:rPr lang="en-US" sz="16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Bajo-Moderado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23836" y="3436045"/>
            <a:ext cx="5276123" cy="1862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fabricación de componentes de precisión requiere </a:t>
            </a: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inversiones de capital significativas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en maquinaria CNC, centros de mecanizado y sistemas de control de calidad. Las certificaciones sectoriales (IATF 16949 para automotriz) añaden una barrera técnica adicional que protege a los actores establecidos.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 embargo, la aparición de proveedores asiáticos con capacidad de exportación a bajo costo representa una amenaza creciente que no puede ignorarse.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9745"/>
            <a:ext cx="1079552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Fuerza 2: Sustitutos en Ingeniería Industrial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783854"/>
            <a:ext cx="11405108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 el sector de componentes industriales, la amenaza de sustitución opera en dos dimensiones críticas.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312888"/>
            <a:ext cx="1993652" cy="1232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3786684"/>
            <a:ext cx="3437447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Manufactura Aditiva (3D Printing)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4480024"/>
            <a:ext cx="3437447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impresión 3D en metal amenaza la producción de piezas de baja y mediana serie. El costo de cambio sigue siendo alto en series grandes, pero decrece aceleradamente.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124" y="2312888"/>
            <a:ext cx="1993652" cy="12321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7124" y="3786684"/>
            <a:ext cx="343744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Materiales Compuestos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377124" y="4191298"/>
            <a:ext cx="3437447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Polímeros de alta resistencia y materiales compuestos sustituyen componentes metálicos en aplicaciones donde el peso es crítico, como la industria aeroespacial.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6163" y="2312888"/>
            <a:ext cx="1993652" cy="12321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6163" y="3786684"/>
            <a:ext cx="343744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Importación de Bajo Costo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056163" y="4191298"/>
            <a:ext cx="3437447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Componentes importados de Asia con costos hasta 40% menores presionan segmentos de menor precisión, donde el diferencial de calidad es menos perceptible.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8523"/>
            <a:ext cx="10795524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Fuerza 3: Proveedores en la Cadena Metalúrgica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2491581"/>
            <a:ext cx="3546089" cy="3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Nivel de Poder: </a:t>
            </a:r>
            <a:r>
              <a:rPr lang="en-US" sz="215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Alto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698086" y="2943721"/>
            <a:ext cx="3546089" cy="101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proveedores de </a:t>
            </a: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aceros especiales, aleaciones de aluminio y herramientas de corte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concentran un poder de negociación elevado. Pocas empresas siderúrgicas dominan la oferta de aceros certificados para aplicaciones aeronáuticas y automotrices.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01" y="1281609"/>
            <a:ext cx="6891959" cy="387677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36" y="5381228"/>
            <a:ext cx="3527932" cy="927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2628" y="5400278"/>
            <a:ext cx="3324340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Concentración siderúrgica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82628" y="5680174"/>
            <a:ext cx="3324340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Menos de 5 proveedores globales certifican aceros AISI para uso aeronáutico en la región.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2357" y="5381228"/>
            <a:ext cx="3527932" cy="9272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25948" y="5400278"/>
            <a:ext cx="3324340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Volatilidad de precios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525948" y="5680174"/>
            <a:ext cx="3324340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acero y aluminio cotizan en mercados internacionales, generando incertidumbre en costos de producción.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5677" y="5381228"/>
            <a:ext cx="3527932" cy="9272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69269" y="5400278"/>
            <a:ext cx="3324340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Estrategia de mitigación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169269" y="5680174"/>
            <a:ext cx="3324340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Contratos de largo plazo y diversificación de proveedores son respuestas clave para reducir dependencia.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6581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Fuerza 4: Poder de los Compradores OEM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37357"/>
            <a:ext cx="6899995" cy="38813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8988" y="2604195"/>
            <a:ext cx="356097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Nivel de Poder: </a:t>
            </a:r>
            <a:r>
              <a:rPr lang="en-US" sz="20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Muy Alto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8988" y="3021112"/>
            <a:ext cx="3560971" cy="1241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grandes fabricantes OEM (Toyota, General Motors, Airbus) concentran un </a:t>
            </a:r>
            <a:r>
              <a:rPr lang="en-US" sz="12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poder de compra extraordinario</a:t>
            </a: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Negocian condiciones estrictas de precio, calidad, plazo de entrega y mejora continua.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8086" y="5330825"/>
            <a:ext cx="3535671" cy="940594"/>
          </a:xfrm>
          <a:prstGeom prst="roundRect">
            <a:avLst>
              <a:gd name="adj" fmla="val 2187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252" y="5486995"/>
            <a:ext cx="32233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Auditorías periódicas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4252" y="5745163"/>
            <a:ext cx="32233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clientes OEM realizan auditorías de proceso y calidad que condicionan la continuidad del contrato.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8012" y="5330825"/>
            <a:ext cx="3535671" cy="940594"/>
          </a:xfrm>
          <a:prstGeom prst="roundRect">
            <a:avLst>
              <a:gd name="adj" fmla="val 2187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4178" y="5486995"/>
            <a:ext cx="32233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Presión de reducción de costos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84178" y="5745163"/>
            <a:ext cx="32233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Programas anuales de reducción de precios (Kaizen de costos) imponen mejoras continuas al proveedor.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7938" y="5330825"/>
            <a:ext cx="3535671" cy="940594"/>
          </a:xfrm>
          <a:prstGeom prst="roundRect">
            <a:avLst>
              <a:gd name="adj" fmla="val 2187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14105" y="5486995"/>
            <a:ext cx="32233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Alta concentración de clientes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14105" y="5745163"/>
            <a:ext cx="32233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Depender de 2-3 clientes para el 80% de la facturación amplifica el riesgo negociador.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2059"/>
            <a:ext cx="6223638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Fuerza 5: Rivalidad en el Sector Industrial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971" y="1964928"/>
            <a:ext cx="935014" cy="13336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80301" y="2151856"/>
            <a:ext cx="511330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Competencia Fragmentada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380301" y="2532063"/>
            <a:ext cx="5113309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Múltiples talleres de mecanizado de mediana escala compiten por los mismos contratos OEM regionales.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971" y="3298627"/>
            <a:ext cx="935014" cy="16235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80301" y="3485555"/>
            <a:ext cx="511330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Diferenciación Técnica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380301" y="3865761"/>
            <a:ext cx="5113309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certificación, la precisión dimensional y el tiempo de respuesta son los ejes de diferenciación clave frente a la competencia de precios.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971" y="4922143"/>
            <a:ext cx="935014" cy="13336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0301" y="5109071"/>
            <a:ext cx="511330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Industria 4.0 como Ventaja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380301" y="5489277"/>
            <a:ext cx="5113309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automatización inteligente, el IoT industrial y el gemelo digital separan a los líderes del resto del mercado.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Mapa Estratégico: Diagnóstico Final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070622"/>
            <a:ext cx="52761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Lectura Integrada del Sector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23836" y="3355082"/>
            <a:ext cx="5276123" cy="894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sector de componentes industriales de precisión opera bajo una </a:t>
            </a:r>
            <a:r>
              <a:rPr lang="en-US" sz="12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doble presión</a:t>
            </a: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compradores con alto poder de negociación y proveedores de materias primas igualmente concentrados, comprimiendo los márgenes desde ambos extremos.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24124" y="4724855"/>
            <a:ext cx="5276123" cy="806987"/>
          </a:xfrm>
          <a:prstGeom prst="roundRect">
            <a:avLst>
              <a:gd name="adj" fmla="val 3949"/>
            </a:avLst>
          </a:prstGeom>
          <a:solidFill>
            <a:srgbClr val="19008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837" y="4801154"/>
            <a:ext cx="124616" cy="99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8165" y="4794606"/>
            <a:ext cx="4852370" cy="73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diferenciación tecnológica mediante Industria 4.0 es la palanca estratégica más efectiva para reducir la vulnerabilidad ante compradores y rivalidad sectorial.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8542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Recomendaciones Estratégicas para el Ingeniero Industrial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29086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604492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755007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Invertir en certificaciones sectoriales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167955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Obtener y mantener IATF 16949, AS9100 y ISO 14001 para elevar barreras de entrada y acceder a contratos premium.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95560" y="229086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2604492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9" name="Text 7"/>
          <p:cNvSpPr/>
          <p:nvPr/>
        </p:nvSpPr>
        <p:spPr>
          <a:xfrm>
            <a:off x="6195560" y="2755007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Diversificar la base de clientes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95560" y="3167955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Reducir la dependencia de 1-2 OEM amplía el poder de negociación y mitiga el riesgo de concentración.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8086" y="4155281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468912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8086" y="4619427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Integración vertical selectiva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8086" y="5032375"/>
            <a:ext cx="529804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Desarrollar capacidad propia de tratamiento térmico o recubrimientos reduce dependencia de proveedores críticos.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195560" y="4155281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95560" y="4468912"/>
            <a:ext cx="5298049" cy="254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5560" y="4619427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Adoptar Industria 4.0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5560" y="5032375"/>
            <a:ext cx="529804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Automatización, monitoreo en tiempo real y manufactura inteligente como ventaja competitiva sostenible ante rivales y sustitutos.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1889</Words>
  <Application>Microsoft Office PowerPoint</Application>
  <PresentationFormat>Panorámica</PresentationFormat>
  <Paragraphs>204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Arimo</vt:lpstr>
      <vt:lpstr>Syne Bold</vt:lpstr>
      <vt:lpstr>Calibri</vt:lpstr>
      <vt:lpstr>Syne</vt:lpstr>
      <vt:lpstr>Arimo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HP LAPTOP</dc:creator>
  <cp:lastModifiedBy>HP LAPTOP</cp:lastModifiedBy>
  <cp:revision>2</cp:revision>
  <dcterms:created xsi:type="dcterms:W3CDTF">2026-09-18T03:52:25Z</dcterms:created>
  <dcterms:modified xsi:type="dcterms:W3CDTF">2026-09-18T04:03:41Z</dcterms:modified>
</cp:coreProperties>
</file>