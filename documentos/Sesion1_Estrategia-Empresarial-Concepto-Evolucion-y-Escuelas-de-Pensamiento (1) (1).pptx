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eist" panose="020B0604020202020204" charset="0"/>
      <p:regular r:id="rId23"/>
    </p:embeddedFont>
    <p:embeddedFont>
      <p:font typeface="Geist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799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243038"/>
            <a:ext cx="6296860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Estrategia Empresarial: Concepto, Evolución y Escuelas de Pensamiento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30523"/>
            <a:ext cx="6296860" cy="175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00" b="1" kern="0" spc="-7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¿Por qué los ingenieros necesitan pensar estratégicamente?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2544862"/>
            <a:ext cx="6296860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Una planta de producción sin estrategia es como una línea de ensamble sin diseño de proceso: hay movimiento, pero no hay eficiencia ni dirección. Comprender la estrategia es la base de toda decisión directiva.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3424138"/>
            <a:ext cx="6296860" cy="1480145"/>
          </a:xfrm>
          <a:prstGeom prst="roundRect">
            <a:avLst>
              <a:gd name="adj" fmla="val 511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0602" y="3623270"/>
            <a:ext cx="5898606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Entorno industrial actual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0602" y="4019054"/>
            <a:ext cx="5898606" cy="686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Automatización, Industria 4.0, cadenas de suministro globales y presión por reducir costos exigen decisiones estratégicas en todos los niveles de ingeniería.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1475" y="5075932"/>
            <a:ext cx="6296860" cy="1251446"/>
          </a:xfrm>
          <a:prstGeom prst="roundRect">
            <a:avLst>
              <a:gd name="adj" fmla="val 6046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0602" y="5275064"/>
            <a:ext cx="5898606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Relevancia para el ingeniero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60602" y="5670848"/>
            <a:ext cx="5898606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Las decisiones de diseño de planta, selección de tecnología y gestión de operaciones son decisiones estratégicas, no solo técnicas.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¿Qué es la Estrategia? Definición aplicada a la Ingeniería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50813"/>
            <a:ext cx="6983932" cy="69841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2336" y="3358158"/>
            <a:ext cx="3654135" cy="6916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40288" y="3465314"/>
            <a:ext cx="338902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Mintzberg (1999)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8040288" y="3666133"/>
            <a:ext cx="3389029" cy="2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Patrón de comportamiento a través del tiempo que genera un plan de acción. En ingeniería: la forma en que una planta decide sistemáticamente cómo asignar capacidad, tecnología y talento.</a:t>
            </a:r>
            <a:endParaRPr lang="en-US" sz="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2336" y="4097040"/>
            <a:ext cx="3654135" cy="6916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40288" y="4204196"/>
            <a:ext cx="338902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Porter (1996)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040288" y="4405015"/>
            <a:ext cx="3389029" cy="2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Creación de una posición única y valiosa. En manufactura: elegir si competir por costo (producción masiva) o por diferenciación (manufactura flexible y personalizada).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2336" y="4835922"/>
            <a:ext cx="3654135" cy="6916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40288" y="4943078"/>
            <a:ext cx="338902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Chandler (1963)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040288" y="5143897"/>
            <a:ext cx="3389029" cy="2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estructura sigue a la estrategia. En ingeniería industrial: el diseño de planta, la distribución de equipos y los flujos de proceso deben responder a la estrategia competitiva.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437"/>
            <a:ext cx="10868745" cy="1132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kern="0" spc="-6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Las 5 P's de la Estrategia aplicadas a la Ingeniería Industrial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61475" y="1995388"/>
            <a:ext cx="1462944" cy="264616"/>
          </a:xfrm>
          <a:prstGeom prst="roundRect">
            <a:avLst>
              <a:gd name="adj" fmla="val 22126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5950" y="2047577"/>
            <a:ext cx="1863579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HENRY MINTZBERG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40682"/>
            <a:ext cx="435559" cy="4355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076972"/>
            <a:ext cx="3489039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1475" y="3456384"/>
            <a:ext cx="3489039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Programa maestro de producción (MPS): curso de acción deliberado para cumplir la demanda con los recursos disponibles.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1229" y="2440682"/>
            <a:ext cx="435559" cy="4355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1229" y="3076972"/>
            <a:ext cx="3489138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Patrón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351229" y="3456384"/>
            <a:ext cx="3489138" cy="87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Consistencia operacional: una planta que sistemáticamente reduce tiempos de ciclo está ejecutando una estrategia de eficiencia, aunque no esté escrita.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1082" y="2440682"/>
            <a:ext cx="435559" cy="4355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1082" y="3076972"/>
            <a:ext cx="3489138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Posición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041082" y="3456384"/>
            <a:ext cx="3489138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Lugar en la cadena de valor: ¿la planta compite por costo, calidad, velocidad de entrega o flexibilidad?</a:t>
            </a:r>
            <a:endParaRPr lang="en-US" sz="13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648002"/>
            <a:ext cx="435559" cy="4355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5284291"/>
            <a:ext cx="3489039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Perspectiva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61475" y="5663704"/>
            <a:ext cx="3489039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Cultura de ingeniería: Kaizen, Lean, Six Sigma o Industria 4.0 como visión interna de cómo mejorar continuamente.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51229" y="4648002"/>
            <a:ext cx="435559" cy="4355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51229" y="5284291"/>
            <a:ext cx="3489138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Maniobra (Ploy)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351229" y="5663704"/>
            <a:ext cx="3489138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Táctica competitiva: reducir lead time antes que el competidor, o lanzar una nueva línea de producto para ganar un contrato clave.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448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00" b="1" kern="0" spc="-5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Línea de Tiempo: Evolución del Pensamiento Estratégico en la Industria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086323" y="1755973"/>
            <a:ext cx="19050" cy="4235946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4" name="Shape 2"/>
          <p:cNvSpPr/>
          <p:nvPr/>
        </p:nvSpPr>
        <p:spPr>
          <a:xfrm>
            <a:off x="5505808" y="1912541"/>
            <a:ext cx="44300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5" name="Shape 3"/>
          <p:cNvSpPr/>
          <p:nvPr/>
        </p:nvSpPr>
        <p:spPr>
          <a:xfrm>
            <a:off x="5929759" y="1755973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5122" y="1778099"/>
            <a:ext cx="22145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1475" y="1802110"/>
            <a:ext cx="469610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45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Antes del s. XX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2111177"/>
            <a:ext cx="4696104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Sun Tzu (500 a.C.)</a:t>
            </a: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Principios de eficiencia de recursos, ventaja posicional y conocimiento del entorno. Base conceptual de la estrategia competitiva.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2886" y="2733873"/>
            <a:ext cx="44300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0" name="Shape 8"/>
          <p:cNvSpPr/>
          <p:nvPr/>
        </p:nvSpPr>
        <p:spPr>
          <a:xfrm>
            <a:off x="5929759" y="2577306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5122" y="2599432"/>
            <a:ext cx="22145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34116" y="2623443"/>
            <a:ext cx="469610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1900–1938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34116" y="2932509"/>
            <a:ext cx="4696104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Taylor y Fayol</a:t>
            </a: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Administración Científica y principios de organización industrial. La estrategia como control y optimización de procesos productivos.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05808" y="3462933"/>
            <a:ext cx="44300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9759" y="3306366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5122" y="3328491"/>
            <a:ext cx="22145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1475" y="3352502"/>
            <a:ext cx="469610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45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1939–1964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3661569"/>
            <a:ext cx="4696104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Chandler y Ansoff</a:t>
            </a: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"La estructura sigue a la estrategia." Las grandes industrias (GM, DuPont) reorganizan plantas y divisiones para ejecutar estrategias de diversificación.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886" y="4191992"/>
            <a:ext cx="44300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29759" y="4035425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5122" y="4057551"/>
            <a:ext cx="22145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34116" y="4081562"/>
            <a:ext cx="469610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1965–1989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34116" y="4390628"/>
            <a:ext cx="4696104" cy="341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Porter</a:t>
            </a: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Cadena de Valor y ventaja competitiva. Las operaciones industriales como fuente de diferenciación: costo, calidad y velocidad.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05808" y="4921052"/>
            <a:ext cx="443001" cy="1905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9759" y="4764484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5122" y="4786610"/>
            <a:ext cx="22145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1475" y="4810621"/>
            <a:ext cx="4696104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450" b="1" kern="0" spc="-2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1990–hoy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1475" y="5119687"/>
            <a:ext cx="4696104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Mintzberg, Lean, Six Sigma, Industria 4.0</a:t>
            </a: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Estrategia emergente, capacidades dinámicas y manufactura inteligente como ventaja competitiva sostenible.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1475" y="6121698"/>
            <a:ext cx="11478330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Cada era aportó herramientas que hoy usa el ingeniero industrial: desde el cronómetro de Taylor hasta los gemelos digitales de la Industria 4.0.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72889"/>
            <a:ext cx="6983932" cy="69841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2336" y="3055045"/>
            <a:ext cx="3654135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 la Guerra a la Fábrica: Sun Tzu y los Orígenes de la Estrategia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8024016" y="4071838"/>
            <a:ext cx="3512454" cy="2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"Conoce a tu enemigo y conócete a ti mismo; en cien batallas, nunca saldrás derrotado."</a:t>
            </a:r>
            <a:endParaRPr lang="en-US" sz="700" dirty="0"/>
          </a:p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 Sun Tzu, 500 a.C.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7882336" y="4029373"/>
            <a:ext cx="12700" cy="361454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6" name="Text 3"/>
          <p:cNvSpPr/>
          <p:nvPr/>
        </p:nvSpPr>
        <p:spPr>
          <a:xfrm>
            <a:off x="7882336" y="4443909"/>
            <a:ext cx="3654135" cy="661690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81000"/>
              </a:lnSpc>
              <a:buSzPct val="100000"/>
              <a:buChar char="•"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Principios militares aplicados a la industria: conocer las capacidades propias (recursos, tecnología, talento) y las del competidor (costos, tiempos de entrega, calidad) antes de tomar decisiones de inversión.</a:t>
            </a:r>
            <a:endParaRPr lang="en-US" sz="700" dirty="0"/>
          </a:p>
          <a:p>
            <a:pPr marL="142240" indent="-142240" algn="l">
              <a:lnSpc>
                <a:spcPct val="81000"/>
              </a:lnSpc>
              <a:buSzPct val="100000"/>
              <a:buChar char="•"/>
            </a:pP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 industrial: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Toyota aplicó el principio de 'conoce tu entorno' al estudiar profundamente las debilidades de los fabricantes estadounidenses antes de ingresar al mercado norteamericano con el sistema TPS (Toyota Production System).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427"/>
            <a:ext cx="10868745" cy="1074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El Giro Moderno: Chandler y Ansoff aplicados a la Industria (1960s)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19784"/>
            <a:ext cx="3099417" cy="1915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016276"/>
            <a:ext cx="5343887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Alfred Chandler (1963)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4371876"/>
            <a:ext cx="5343887" cy="100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</a:t>
            </a:r>
            <a:r>
              <a:rPr lang="en-US" sz="1300" dirty="0">
                <a:solidFill>
                  <a:srgbClr val="F9D93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estructura sigue a la estrategia.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 DuPont reorganizó su estructura divisional para gestionar múltiples líneas de productos químicos e industriales. Lección para el ingeniero: el diseño organizacional de una planta debe responder a su estrategia de producción (por producto, por proceso o por proyecto).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234" y="1919784"/>
            <a:ext cx="3099417" cy="19156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6234" y="4016276"/>
            <a:ext cx="5343987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Igor Ansoff (1965)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86234" y="4371876"/>
            <a:ext cx="5343987" cy="100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Primer modelo formal de planificación estratégica. La Matriz Ansoff aplicada a la industria: ¿aumentar volumen en mercados actuales (penetración), entrar a nuevos mercados con los mismos productos, desarrollar nuevos productos para clientes actuales, o diversificar hacia nuevas industrias?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61475" y="5542161"/>
            <a:ext cx="10868745" cy="760413"/>
          </a:xfrm>
          <a:prstGeom prst="roundRect">
            <a:avLst>
              <a:gd name="adj" fmla="val 9135"/>
            </a:avLst>
          </a:prstGeom>
          <a:solidFill>
            <a:srgbClr val="002A80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69" y="5729486"/>
            <a:ext cx="206667" cy="1652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98731" y="5728097"/>
            <a:ext cx="10166195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Chandler y Ansoff demostraron que las decisiones de ingeniería (capacidad, tecnología, layout) son inseparables de la estrategia corporativa.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134963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Las Escuelas de Pensamiento Estratégico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646958"/>
            <a:ext cx="629686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Tres enfoques para entender cómo las organizaciones industriales crean y sostienen ventajas competitivas: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Planificación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Posicionamiento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y </a:t>
            </a: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Aprendizaje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596580"/>
            <a:ext cx="6296860" cy="2126456"/>
          </a:xfrm>
          <a:prstGeom prst="roundRect">
            <a:avLst>
              <a:gd name="adj" fmla="val 3733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52410" y="3615630"/>
            <a:ext cx="3129380" cy="1044178"/>
          </a:xfrm>
          <a:custGeom>
            <a:avLst/>
            <a:gdLst/>
            <a:ahLst/>
            <a:cxnLst/>
            <a:rect l="l" t="t" r="r" b="b"/>
            <a:pathLst>
              <a:path w="3129380" h="1044178">
                <a:moveTo>
                  <a:pt x="66156" y="0"/>
                </a:moveTo>
                <a:lnTo>
                  <a:pt x="3129380" y="0"/>
                </a:lnTo>
                <a:lnTo>
                  <a:pt x="3129380" y="1044178"/>
                </a:lnTo>
                <a:lnTo>
                  <a:pt x="0" y="104417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7" name="Text 4"/>
          <p:cNvSpPr/>
          <p:nvPr/>
        </p:nvSpPr>
        <p:spPr>
          <a:xfrm>
            <a:off x="5441417" y="3804642"/>
            <a:ext cx="275136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Planificación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41417" y="4225131"/>
            <a:ext cx="275136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se diseña.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3615630"/>
            <a:ext cx="3129380" cy="1044178"/>
          </a:xfrm>
          <a:custGeom>
            <a:avLst/>
            <a:gdLst/>
            <a:ahLst/>
            <a:cxnLst/>
            <a:rect l="l" t="t" r="r" b="b"/>
            <a:pathLst>
              <a:path w="3129380" h="1044178">
                <a:moveTo>
                  <a:pt x="0" y="0"/>
                </a:moveTo>
                <a:lnTo>
                  <a:pt x="3063224" y="0"/>
                </a:lnTo>
                <a:arcTo wR="66156" hR="66158" stAng="16200000" swAng="5400000"/>
                <a:lnTo>
                  <a:pt x="3129380" y="1044178"/>
                </a:lnTo>
                <a:lnTo>
                  <a:pt x="0" y="1044178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3615630"/>
            <a:ext cx="25399" cy="1044178"/>
          </a:xfrm>
          <a:prstGeom prst="roundRect">
            <a:avLst>
              <a:gd name="adj" fmla="val 50001"/>
            </a:avLst>
          </a:prstGeom>
          <a:solidFill>
            <a:srgbClr val="002A80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3804642"/>
            <a:ext cx="275136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Posicionamiento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4225131"/>
            <a:ext cx="275136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se elige.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52410" y="4659809"/>
            <a:ext cx="6258761" cy="1044178"/>
          </a:xfrm>
          <a:custGeom>
            <a:avLst/>
            <a:gdLst/>
            <a:ahLst/>
            <a:cxnLst/>
            <a:rect l="l" t="t" r="r" b="b"/>
            <a:pathLst>
              <a:path w="6258761" h="1044178">
                <a:moveTo>
                  <a:pt x="0" y="0"/>
                </a:moveTo>
                <a:lnTo>
                  <a:pt x="6258761" y="0"/>
                </a:lnTo>
                <a:lnTo>
                  <a:pt x="6258761" y="978020"/>
                </a:lnTo>
                <a:arcTo wR="66156" hR="66158" stAng="0" swAng="5400000"/>
                <a:lnTo>
                  <a:pt x="66156" y="1044178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4" name="Shape 11"/>
          <p:cNvSpPr/>
          <p:nvPr/>
        </p:nvSpPr>
        <p:spPr>
          <a:xfrm>
            <a:off x="5252410" y="4659809"/>
            <a:ext cx="6258761" cy="25400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5" name="Text 12"/>
          <p:cNvSpPr/>
          <p:nvPr/>
        </p:nvSpPr>
        <p:spPr>
          <a:xfrm>
            <a:off x="5441417" y="4848820"/>
            <a:ext cx="588074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🌱</a:t>
            </a: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Aprendizaje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41417" y="5269309"/>
            <a:ext cx="5880747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emerge.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484"/>
            <a:ext cx="10868745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4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Escuela de Planificación: La Estrategia como Proceso Formal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87835"/>
            <a:ext cx="3607305" cy="36073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7739" y="1152227"/>
            <a:ext cx="1687272" cy="188516"/>
          </a:xfrm>
          <a:prstGeom prst="roundRect">
            <a:avLst>
              <a:gd name="adj" fmla="val 22109"/>
            </a:avLst>
          </a:prstGeom>
          <a:solidFill>
            <a:srgbClr val="00194D"/>
          </a:solidFill>
          <a:ln/>
        </p:spPr>
      </p:sp>
      <p:sp>
        <p:nvSpPr>
          <p:cNvPr id="5" name="Text 2"/>
          <p:cNvSpPr/>
          <p:nvPr/>
        </p:nvSpPr>
        <p:spPr>
          <a:xfrm>
            <a:off x="4652152" y="1189434"/>
            <a:ext cx="2148032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ANSOFF · STEINER · 1960S–1970S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577739" y="1432322"/>
            <a:ext cx="6958731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9D93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Idea central:</a:t>
            </a: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r>
              <a:rPr lang="en-US" sz="1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 estrategia se diseña de forma deliberada, racional y estructurada. En ingeniería industrial: el Plan de Producción Maestro (MPS), el Plan de Requerimiento de Materiales (MRP) y el Plan de Capacidad (CRP) son expresiones de esta escuela.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418" y="2024559"/>
            <a:ext cx="6877374" cy="31476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84449" y="4419740"/>
            <a:ext cx="1291171" cy="258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257219" y="4290399"/>
            <a:ext cx="1291171" cy="517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Implementación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638833" y="4419740"/>
            <a:ext cx="1291171" cy="258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Formulación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985073" y="4419740"/>
            <a:ext cx="1291171" cy="258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Análisis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577739" y="5263753"/>
            <a:ext cx="6958731" cy="400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 industrial: Boeing diseña su estrategia de producción del 787 Dreamliner con años de anticipación: análisis de demanda global, formulación de la cadena de suministro distribuida en 50 países, implementación por fases y control de calidad en cada etapa.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7739" y="5755680"/>
            <a:ext cx="6958731" cy="475258"/>
          </a:xfrm>
          <a:prstGeom prst="roundRect">
            <a:avLst>
              <a:gd name="adj" fmla="val 10962"/>
            </a:avLst>
          </a:prstGeom>
          <a:solidFill>
            <a:srgbClr val="4B3F0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760" y="5867995"/>
            <a:ext cx="154976" cy="1240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0756" y="5859859"/>
            <a:ext cx="6431695" cy="266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Limitación: en entornos de alta volatilidad (disrupciones de cadena de suministro, pandemias), la planificación rígida puede ser insuficiente.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729456"/>
            <a:ext cx="6296860" cy="94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0" spc="-5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Escuela de Posicionamiento: Ventaja Competitiva en Operaciones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233360" y="1836440"/>
            <a:ext cx="6296860" cy="948432"/>
          </a:xfrm>
          <a:prstGeom prst="roundRect">
            <a:avLst>
              <a:gd name="adj" fmla="val 640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0717" y="1993801"/>
            <a:ext cx="598214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Representante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390717" y="2295327"/>
            <a:ext cx="598214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Michael Porter — Harvard Business School, 1980. La Cadena de Valor como herramienta central para el ingeniero industrial.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33360" y="2895600"/>
            <a:ext cx="6296860" cy="1114524"/>
          </a:xfrm>
          <a:prstGeom prst="roundRect">
            <a:avLst>
              <a:gd name="adj" fmla="val 5454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0717" y="3052961"/>
            <a:ext cx="598214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8" dirty="0">
                <a:solidFill>
                  <a:srgbClr val="F9D93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Idea central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90717" y="3354487"/>
            <a:ext cx="5982146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9D93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Elegir una posición única en el mercado industrial: ¿liderazgo en costos (producción masiva eficiente), diferenciación (calidad superior, personalización) o enfoque (nicho especializado)?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33360" y="4120852"/>
            <a:ext cx="6296860" cy="948432"/>
          </a:xfrm>
          <a:prstGeom prst="roundRect">
            <a:avLst>
              <a:gd name="adj" fmla="val 640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0717" y="4278213"/>
            <a:ext cx="598214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Herramientas para el ingeniero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90717" y="4579739"/>
            <a:ext cx="598214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Cadena de Valor de Porter: identifica qué actividades de producción, logística y calidad generan valor real. 5 Fuerzas: analiza proveedores, clientes industriales y competidores.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33360" y="5180013"/>
            <a:ext cx="6296860" cy="948432"/>
          </a:xfrm>
          <a:prstGeom prst="roundRect">
            <a:avLst>
              <a:gd name="adj" fmla="val 640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0717" y="5337373"/>
            <a:ext cx="5982146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 industrial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90717" y="5638899"/>
            <a:ext cx="5982146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Caterpillar eligió diferenciarse por durabilidad extrema y red de servicio global — una posición que justifica precios 30–40% superiores a sus competidores asiáticos.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Escuela de Aprendizaje: Estrategia Emergente en la Industria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820220"/>
            <a:ext cx="365413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Representante principal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4021038"/>
            <a:ext cx="4263720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F9D93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Henry Mintzberg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McGill University, 1978–1994.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4160441"/>
            <a:ext cx="365413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487C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Idea central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4361259"/>
            <a:ext cx="3654135" cy="276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no siempre se planifica; </a:t>
            </a:r>
            <a:r>
              <a:rPr lang="en-US" sz="7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emerge</a:t>
            </a: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de la experiencia operacional, los errores de proceso y la adaptación continua. En ingeniería: las mejoras de proceso más valiosas suelen surgir del piso de producción, no de la oficina directiva.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4685010"/>
            <a:ext cx="365413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Estrategia deliberada vs. emergente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4885829"/>
            <a:ext cx="3654135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Las mejores operaciones industriales combinan planificación (MPS, MRP) con aprendizaje continuo (Kaizen, PDCA, lecciones aprendidas).</a:t>
            </a:r>
            <a:endParaRPr lang="en-US" sz="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538" y="950813"/>
            <a:ext cx="6983932" cy="69841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1475" y="8041084"/>
            <a:ext cx="10868745" cy="321270"/>
          </a:xfrm>
          <a:prstGeom prst="roundRect">
            <a:avLst>
              <a:gd name="adj" fmla="val 12355"/>
            </a:avLst>
          </a:prstGeom>
          <a:solidFill>
            <a:srgbClr val="183A1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29" y="8111927"/>
            <a:ext cx="118067" cy="94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8450" y="8111927"/>
            <a:ext cx="10467316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 industrial — Toyota y el Kaizen:</a:t>
            </a:r>
            <a:r>
              <a:rPr lang="en-US" sz="7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El sistema de mejora continua de Toyota no fue diseñado de una vez; emergió de miles de pequeñas mejoras propuestas por operarios en el piso de producción durante décadas. Hoy es el modelo de manufactura más estudiado del mundo.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145"/>
            <a:ext cx="10868745" cy="119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b="1" kern="0" spc="-7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Cuadro Comparativo: Las 3 Escuelas aplicadas a la Ingeniería Industrial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98080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9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Dimensión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Planificación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F2A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Posicionamiento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F2A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Aprendizaje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1F2A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Autor clave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Ansoff, Steiner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Michael Porter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Henry Mintzberg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Origen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1960s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1980s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1978–1990s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¿Cómo surge la estrategia?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Proceso formal: MPS, MRP, CRP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Análisis del entorno competitivo industrial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Emerge del piso de producción y la experiencia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Rol del ingeniero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Planificador de producción y capacidad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Analista de cadena de valor y costos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Facilitador de mejora continua (Kaizen)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Herramienta clave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Plan Maestro de Producción (MPS)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Cadena de Valor / 5 Fuerzas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PDCA / Kaizen / Estrategia emergente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2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Limitación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Rigidez ante disrupciones de cadena de suministro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Visión estática en mercados industriales dinámicos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Falta de dirección clara en proyectos de gran escala</a:t>
                      </a:r>
                      <a:endParaRPr lang="en-US" sz="14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3112" marR="18311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9363"/>
            <a:ext cx="10868745" cy="547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6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Otras Escuelas Relevantes para la Ingeniería Industrial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626295"/>
            <a:ext cx="1297153" cy="255786"/>
          </a:xfrm>
          <a:prstGeom prst="roundRect">
            <a:avLst>
              <a:gd name="adj" fmla="val 22114"/>
            </a:avLst>
          </a:prstGeom>
          <a:noFill/>
          <a:ln w="12700">
            <a:solidFill>
              <a:srgbClr val="629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477" y="1676797"/>
            <a:ext cx="1704734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MINTZBERG, 1998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0752"/>
            <a:ext cx="2028774" cy="2028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266902"/>
            <a:ext cx="349796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Escuela Emprendedora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4630341"/>
            <a:ext cx="3497969" cy="1241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nace de la visión del fundador o líder técnico.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 industrial: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Elon Musk en Tesla redefinió la manufactura automotriz con la Gigafactory: producción masiva de baterías como ventaja competitiva central.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764" y="2050752"/>
            <a:ext cx="2028873" cy="20289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6764" y="4267002"/>
            <a:ext cx="3498068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Escuela Cultural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346764" y="4630440"/>
            <a:ext cx="3498068" cy="1241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 estrategia refleja los valores y cultura organizacional.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 industrial: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Toyota y su filosofía Kaizen — la mejora continua no es un programa, es la cultura de cada operario en la planta.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152" y="2050752"/>
            <a:ext cx="2028873" cy="20289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32152" y="4267002"/>
            <a:ext cx="3498068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Escuela de Configuración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032152" y="4630440"/>
            <a:ext cx="3498068" cy="1448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Las organizaciones pasan por etapas; la estrategia cambia según el ciclo de vida industrial.</a:t>
            </a:r>
            <a:endParaRPr lang="en-US" sz="13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Ejemplo: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Siemens pasó de fabricante de equipos eléctricos → automatización industrial → soluciones digitales (gemelos digitales, IoT industrial).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638"/>
            <a:ext cx="10868745" cy="1132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b="1" kern="0" spc="-69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Tendencias Actuales: Estrategia Industrial en el Siglo XXI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244453"/>
            <a:ext cx="3136524" cy="174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4719" y="2100858"/>
            <a:ext cx="522185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F44444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Industria 4.0 y Capacidades Dinámicas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14719" y="2544564"/>
            <a:ext cx="5221851" cy="87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Teece (1997) + Industria 4.0: La ventaja competitiva proviene de integrar IoT, robótica colaborativa y análisis de datos en tiempo real.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Ejemplo: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Bosch conecta 270 fábricas en una red de manufactura inteligente.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14719" y="3575546"/>
            <a:ext cx="522185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F9D93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Manufactura Sostenible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14719" y="4019252"/>
            <a:ext cx="5221851" cy="870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Kim &amp; Mauborgne + ESG Industrial: Crear nuevos espacios de mercado con procesos de cero residuos. </a:t>
            </a: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Ejemplo:</a:t>
            </a: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Interface Inc. eliminó su huella de carbono neta en manufactura de alfombras industriales.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14719" y="5050234"/>
            <a:ext cx="5221851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kern="0" spc="-34" dirty="0">
                <a:solidFill>
                  <a:srgbClr val="5CC97B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Agilidad en la Cadena de Suministro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14719" y="5493941"/>
            <a:ext cx="5221851" cy="65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Empresas como TSMC y Samsung combinan planificación de largo plazo con capacidad de respuesta rápida ante disrupciones globales de semiconductores.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29530"/>
            <a:ext cx="6296860" cy="1036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0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Reflexión Final: ¿Qué escuela aplicarías en tu planta?</a:t>
            </a:r>
            <a:endParaRPr lang="en-US" sz="3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767979"/>
            <a:ext cx="3081161" cy="24994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06361" y="1882775"/>
            <a:ext cx="191289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25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39965" y="2405856"/>
            <a:ext cx="2724181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1550" b="1" kern="0" spc="-31" dirty="0">
                <a:solidFill>
                  <a:srgbClr val="F9D93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Caso 1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39965" y="2751931"/>
            <a:ext cx="2724181" cy="1145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Una empresa manufacturera de tu región quiere reducir costos un 20% en 18 meses. ¿Aplicarías la Escuela de Planificación (MPS/MRP formal) o la Escuela de Aprendizaje (Kaizen desde el piso)? ¿Por qué?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7173" y="1767979"/>
            <a:ext cx="3081161" cy="24994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22060" y="1882775"/>
            <a:ext cx="191289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25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4055663" y="2405856"/>
            <a:ext cx="2724181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550" b="1" kern="0" spc="-31" dirty="0">
                <a:solidFill>
                  <a:srgbClr val="F9D93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Caso 2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055663" y="2751931"/>
            <a:ext cx="2724181" cy="1336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Una planta automotriz enfrenta la entrada de un competidor chino con precios 35% menores. Usando la Escuela de Posicionamiento de Porter, ¿qué estrategia recomendarías: liderazgo en costos, diferenciación o enfoque?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01939"/>
            <a:ext cx="6296860" cy="1926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14260" y="4516735"/>
            <a:ext cx="191289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25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839965" y="5039816"/>
            <a:ext cx="5939880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sz="155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</a:t>
            </a:r>
            <a:r>
              <a:rPr lang="en-US" sz="1550" b="1" kern="0" spc="-31" dirty="0">
                <a:solidFill>
                  <a:srgbClr val="F9D933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Caso 3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839965" y="5385891"/>
            <a:ext cx="5939880" cy="763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Durante la pandemia de COVID-19, muchas plantas tuvieron que reconvertirse para fabricar ventiladores o EPP en semanas. ¿Qué escuela de pensamiento estratégico describe mejor esa respuesta? ¿Qué capacidades organizacionales fueron clave?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1767</Words>
  <Application>Microsoft Office PowerPoint</Application>
  <PresentationFormat>Panorámica</PresentationFormat>
  <Paragraphs>161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Geist</vt:lpstr>
      <vt:lpstr>Calibri</vt:lpstr>
      <vt:lpstr>Twemoji Mozilla</vt:lpstr>
      <vt:lpstr>Geist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HP LAPTOP</dc:creator>
  <cp:lastModifiedBy>HP LAPTOP</cp:lastModifiedBy>
  <cp:revision>2</cp:revision>
  <dcterms:created xsi:type="dcterms:W3CDTF">2026-08-28T19:50:38Z</dcterms:created>
  <dcterms:modified xsi:type="dcterms:W3CDTF">2026-08-28T19:56:14Z</dcterms:modified>
</cp:coreProperties>
</file>